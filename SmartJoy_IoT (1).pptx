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2411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65291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8171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-355" y="-353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632" y="1733029"/>
                </a:moveTo>
                <a:lnTo>
                  <a:pt x="7319518" y="1733029"/>
                </a:lnTo>
                <a:lnTo>
                  <a:pt x="7319518" y="0"/>
                </a:lnTo>
                <a:lnTo>
                  <a:pt x="7310869" y="0"/>
                </a:lnTo>
                <a:lnTo>
                  <a:pt x="7310869" y="1733029"/>
                </a:lnTo>
                <a:lnTo>
                  <a:pt x="0" y="1733029"/>
                </a:lnTo>
                <a:lnTo>
                  <a:pt x="0" y="1741678"/>
                </a:lnTo>
                <a:lnTo>
                  <a:pt x="4572000" y="1741678"/>
                </a:lnTo>
                <a:lnTo>
                  <a:pt x="7310869" y="1741678"/>
                </a:lnTo>
                <a:lnTo>
                  <a:pt x="7310869" y="3470389"/>
                </a:lnTo>
                <a:lnTo>
                  <a:pt x="0" y="3470389"/>
                </a:lnTo>
                <a:lnTo>
                  <a:pt x="0" y="3479038"/>
                </a:lnTo>
                <a:lnTo>
                  <a:pt x="4572000" y="3479038"/>
                </a:lnTo>
                <a:lnTo>
                  <a:pt x="7310869" y="3479038"/>
                </a:lnTo>
                <a:lnTo>
                  <a:pt x="7310869" y="5143309"/>
                </a:lnTo>
                <a:lnTo>
                  <a:pt x="7315200" y="5143309"/>
                </a:lnTo>
                <a:lnTo>
                  <a:pt x="7319518" y="5143309"/>
                </a:lnTo>
                <a:lnTo>
                  <a:pt x="7319518" y="3479038"/>
                </a:lnTo>
                <a:lnTo>
                  <a:pt x="9143632" y="3479038"/>
                </a:lnTo>
                <a:lnTo>
                  <a:pt x="9143632" y="3470389"/>
                </a:lnTo>
                <a:lnTo>
                  <a:pt x="7319518" y="3470389"/>
                </a:lnTo>
                <a:lnTo>
                  <a:pt x="7319518" y="1741678"/>
                </a:lnTo>
                <a:lnTo>
                  <a:pt x="9143632" y="1741678"/>
                </a:lnTo>
                <a:lnTo>
                  <a:pt x="9143632" y="1733029"/>
                </a:lnTo>
                <a:close/>
              </a:path>
            </a:pathLst>
          </a:custGeom>
          <a:solidFill>
            <a:srgbClr val="0DA4E8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0264" y="1480580"/>
            <a:ext cx="734347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DA4E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A4E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A4E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DA4E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90D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704" y="184952"/>
            <a:ext cx="4554220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DA4E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360" y="835026"/>
            <a:ext cx="8364220" cy="1096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403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90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7275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6147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5019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3891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89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7633" y="-353"/>
            <a:ext cx="8890" cy="5143500"/>
          </a:xfrm>
          <a:custGeom>
            <a:avLst/>
            <a:gdLst/>
            <a:ahLst/>
            <a:cxnLst/>
            <a:rect l="l" t="t" r="r" b="b"/>
            <a:pathLst>
              <a:path w="8890" h="5143500">
                <a:moveTo>
                  <a:pt x="8648" y="0"/>
                </a:moveTo>
                <a:lnTo>
                  <a:pt x="0" y="0"/>
                </a:lnTo>
                <a:lnTo>
                  <a:pt x="0" y="5143309"/>
                </a:lnTo>
                <a:lnTo>
                  <a:pt x="4330" y="5143309"/>
                </a:lnTo>
                <a:lnTo>
                  <a:pt x="8648" y="5143309"/>
                </a:lnTo>
                <a:lnTo>
                  <a:pt x="8648" y="0"/>
                </a:lnTo>
                <a:close/>
              </a:path>
            </a:pathLst>
          </a:custGeom>
          <a:solidFill>
            <a:srgbClr val="0DA4E8">
              <a:alpha val="1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-355" y="-353"/>
            <a:ext cx="9144000" cy="5143500"/>
            <a:chOff x="-355" y="-353"/>
            <a:chExt cx="9144000" cy="5143500"/>
          </a:xfrm>
        </p:grpSpPr>
        <p:sp>
          <p:nvSpPr>
            <p:cNvPr id="9" name="object 9"/>
            <p:cNvSpPr/>
            <p:nvPr/>
          </p:nvSpPr>
          <p:spPr>
            <a:xfrm>
              <a:off x="-355" y="-353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3632" y="1047229"/>
                  </a:moveTo>
                  <a:lnTo>
                    <a:pt x="8325358" y="1047229"/>
                  </a:lnTo>
                  <a:lnTo>
                    <a:pt x="8325358" y="0"/>
                  </a:lnTo>
                  <a:lnTo>
                    <a:pt x="8316709" y="0"/>
                  </a:lnTo>
                  <a:lnTo>
                    <a:pt x="8316709" y="1047229"/>
                  </a:lnTo>
                  <a:lnTo>
                    <a:pt x="0" y="1047229"/>
                  </a:lnTo>
                  <a:lnTo>
                    <a:pt x="0" y="1055878"/>
                  </a:lnTo>
                  <a:lnTo>
                    <a:pt x="4572000" y="1055878"/>
                  </a:lnTo>
                  <a:lnTo>
                    <a:pt x="8316709" y="1055878"/>
                  </a:lnTo>
                  <a:lnTo>
                    <a:pt x="8316709" y="2098789"/>
                  </a:lnTo>
                  <a:lnTo>
                    <a:pt x="0" y="2098789"/>
                  </a:lnTo>
                  <a:lnTo>
                    <a:pt x="0" y="2107438"/>
                  </a:lnTo>
                  <a:lnTo>
                    <a:pt x="4572000" y="2107438"/>
                  </a:lnTo>
                  <a:lnTo>
                    <a:pt x="8316709" y="2107438"/>
                  </a:lnTo>
                  <a:lnTo>
                    <a:pt x="8316709" y="3150349"/>
                  </a:lnTo>
                  <a:lnTo>
                    <a:pt x="0" y="3150349"/>
                  </a:lnTo>
                  <a:lnTo>
                    <a:pt x="0" y="3158998"/>
                  </a:lnTo>
                  <a:lnTo>
                    <a:pt x="4572000" y="3158998"/>
                  </a:lnTo>
                  <a:lnTo>
                    <a:pt x="8316709" y="3158998"/>
                  </a:lnTo>
                  <a:lnTo>
                    <a:pt x="8316709" y="4201909"/>
                  </a:lnTo>
                  <a:lnTo>
                    <a:pt x="0" y="4201909"/>
                  </a:lnTo>
                  <a:lnTo>
                    <a:pt x="0" y="4210558"/>
                  </a:lnTo>
                  <a:lnTo>
                    <a:pt x="4572000" y="4210558"/>
                  </a:lnTo>
                  <a:lnTo>
                    <a:pt x="8316709" y="4210558"/>
                  </a:lnTo>
                  <a:lnTo>
                    <a:pt x="8316709" y="5143309"/>
                  </a:lnTo>
                  <a:lnTo>
                    <a:pt x="8321040" y="5143309"/>
                  </a:lnTo>
                  <a:lnTo>
                    <a:pt x="8325358" y="5143309"/>
                  </a:lnTo>
                  <a:lnTo>
                    <a:pt x="8325358" y="4210558"/>
                  </a:lnTo>
                  <a:lnTo>
                    <a:pt x="9143632" y="4210558"/>
                  </a:lnTo>
                  <a:lnTo>
                    <a:pt x="9143632" y="4201909"/>
                  </a:lnTo>
                  <a:lnTo>
                    <a:pt x="8325358" y="4201909"/>
                  </a:lnTo>
                  <a:lnTo>
                    <a:pt x="8325358" y="3158998"/>
                  </a:lnTo>
                  <a:lnTo>
                    <a:pt x="9143632" y="3158998"/>
                  </a:lnTo>
                  <a:lnTo>
                    <a:pt x="9143632" y="3150349"/>
                  </a:lnTo>
                  <a:lnTo>
                    <a:pt x="8325358" y="3150349"/>
                  </a:lnTo>
                  <a:lnTo>
                    <a:pt x="8325358" y="2107438"/>
                  </a:lnTo>
                  <a:lnTo>
                    <a:pt x="9143632" y="2107438"/>
                  </a:lnTo>
                  <a:lnTo>
                    <a:pt x="9143632" y="2098789"/>
                  </a:lnTo>
                  <a:lnTo>
                    <a:pt x="8325358" y="2098789"/>
                  </a:lnTo>
                  <a:lnTo>
                    <a:pt x="8325358" y="1055878"/>
                  </a:lnTo>
                  <a:lnTo>
                    <a:pt x="9143632" y="1055878"/>
                  </a:lnTo>
                  <a:lnTo>
                    <a:pt x="9143632" y="1047229"/>
                  </a:lnTo>
                  <a:close/>
                </a:path>
              </a:pathLst>
            </a:custGeom>
            <a:solidFill>
              <a:srgbClr val="0DA4E8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964" y="776886"/>
              <a:ext cx="8595360" cy="2103120"/>
            </a:xfrm>
            <a:custGeom>
              <a:avLst/>
              <a:gdLst/>
              <a:ahLst/>
              <a:cxnLst/>
              <a:rect l="l" t="t" r="r" b="b"/>
              <a:pathLst>
                <a:path w="8595360" h="2103120">
                  <a:moveTo>
                    <a:pt x="8594991" y="0"/>
                  </a:moveTo>
                  <a:lnTo>
                    <a:pt x="0" y="0"/>
                  </a:lnTo>
                  <a:lnTo>
                    <a:pt x="0" y="2102751"/>
                  </a:lnTo>
                  <a:lnTo>
                    <a:pt x="4297680" y="2102751"/>
                  </a:lnTo>
                  <a:lnTo>
                    <a:pt x="8594991" y="2102751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0E1D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776886"/>
              <a:ext cx="8595360" cy="2103120"/>
            </a:xfrm>
            <a:custGeom>
              <a:avLst/>
              <a:gdLst/>
              <a:ahLst/>
              <a:cxnLst/>
              <a:rect l="l" t="t" r="r" b="b"/>
              <a:pathLst>
                <a:path w="8595360" h="2103120">
                  <a:moveTo>
                    <a:pt x="4297680" y="2102751"/>
                  </a:moveTo>
                  <a:lnTo>
                    <a:pt x="0" y="2102751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2102751"/>
                  </a:lnTo>
                  <a:lnTo>
                    <a:pt x="4297680" y="2102751"/>
                  </a:lnTo>
                  <a:close/>
                </a:path>
              </a:pathLst>
            </a:custGeom>
            <a:ln w="12599">
              <a:solidFill>
                <a:srgbClr val="0DA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926333" y="855626"/>
            <a:ext cx="328549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140"/>
              </a:lnSpc>
              <a:spcBef>
                <a:spcPts val="100"/>
              </a:spcBef>
            </a:pPr>
            <a:r>
              <a:rPr sz="6000" spc="315" dirty="0"/>
              <a:t>SmartJoy</a:t>
            </a:r>
            <a:endParaRPr sz="6000"/>
          </a:p>
          <a:p>
            <a:pPr marL="125730">
              <a:lnSpc>
                <a:spcPts val="2340"/>
              </a:lnSpc>
            </a:pPr>
            <a:r>
              <a:rPr sz="2000" b="0" spc="114" dirty="0">
                <a:solidFill>
                  <a:srgbClr val="00F4D3"/>
                </a:solidFill>
                <a:latin typeface="Calibri"/>
                <a:cs typeface="Calibri"/>
              </a:rPr>
              <a:t>Joysti</a:t>
            </a:r>
            <a:r>
              <a:rPr sz="2000" b="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2000" b="0" spc="85" dirty="0">
                <a:solidFill>
                  <a:srgbClr val="00F4D3"/>
                </a:solidFill>
                <a:latin typeface="Calibri"/>
                <a:cs typeface="Calibri"/>
              </a:rPr>
              <a:t>ck</a:t>
            </a:r>
            <a:r>
              <a:rPr sz="2000" b="0" spc="4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2000" b="0" spc="170" dirty="0">
                <a:solidFill>
                  <a:srgbClr val="00F4D3"/>
                </a:solidFill>
                <a:latin typeface="Calibri"/>
                <a:cs typeface="Calibri"/>
              </a:rPr>
              <a:t>Inalámbrico</a:t>
            </a:r>
            <a:r>
              <a:rPr sz="2000" b="0" spc="4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2000" b="0" spc="100" dirty="0">
                <a:solidFill>
                  <a:srgbClr val="00F4D3"/>
                </a:solidFill>
                <a:latin typeface="Calibri"/>
                <a:cs typeface="Calibri"/>
              </a:rPr>
              <a:t>Io</a:t>
            </a:r>
            <a:r>
              <a:rPr sz="2000" b="0" spc="-25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2000" b="0" spc="-50" dirty="0">
                <a:solidFill>
                  <a:srgbClr val="00F4D3"/>
                </a:solidFill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90574" y="2828292"/>
            <a:ext cx="6962140" cy="607060"/>
            <a:chOff x="1090574" y="2828292"/>
            <a:chExt cx="6962140" cy="607060"/>
          </a:xfrm>
        </p:grpSpPr>
        <p:sp>
          <p:nvSpPr>
            <p:cNvPr id="14" name="object 14"/>
            <p:cNvSpPr/>
            <p:nvPr/>
          </p:nvSpPr>
          <p:spPr>
            <a:xfrm>
              <a:off x="1096924" y="2834642"/>
              <a:ext cx="6949440" cy="594360"/>
            </a:xfrm>
            <a:custGeom>
              <a:avLst/>
              <a:gdLst/>
              <a:ahLst/>
              <a:cxnLst/>
              <a:rect l="l" t="t" r="r" b="b"/>
              <a:pathLst>
                <a:path w="6949440" h="594360">
                  <a:moveTo>
                    <a:pt x="694907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3474719" y="594004"/>
                  </a:lnTo>
                  <a:lnTo>
                    <a:pt x="6949071" y="594004"/>
                  </a:lnTo>
                  <a:lnTo>
                    <a:pt x="6949071" y="0"/>
                  </a:lnTo>
                  <a:close/>
                </a:path>
              </a:pathLst>
            </a:custGeom>
            <a:solidFill>
              <a:srgbClr val="0813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96924" y="2834642"/>
              <a:ext cx="6949440" cy="594360"/>
            </a:xfrm>
            <a:custGeom>
              <a:avLst/>
              <a:gdLst/>
              <a:ahLst/>
              <a:cxnLst/>
              <a:rect l="l" t="t" r="r" b="b"/>
              <a:pathLst>
                <a:path w="6949440" h="594360">
                  <a:moveTo>
                    <a:pt x="3474719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6949071" y="0"/>
                  </a:lnTo>
                  <a:lnTo>
                    <a:pt x="6949071" y="594004"/>
                  </a:lnTo>
                  <a:lnTo>
                    <a:pt x="3474719" y="594004"/>
                  </a:lnTo>
                  <a:close/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58859" y="3012378"/>
            <a:ext cx="3822065" cy="115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EFF8FF"/>
                </a:solidFill>
                <a:latin typeface="Calibri"/>
                <a:cs typeface="Calibri"/>
              </a:rPr>
              <a:t>Control</a:t>
            </a:r>
            <a:r>
              <a:rPr sz="14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FF8FF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FF8FF"/>
                </a:solidFill>
                <a:latin typeface="Calibri"/>
                <a:cs typeface="Calibri"/>
              </a:rPr>
              <a:t>mouse</a:t>
            </a:r>
            <a:r>
              <a:rPr sz="14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FF8FF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FF8FF"/>
                </a:solidFill>
                <a:latin typeface="Calibri"/>
                <a:cs typeface="Calibri"/>
              </a:rPr>
              <a:t>teclado</a:t>
            </a:r>
            <a:r>
              <a:rPr sz="14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EFF8FF"/>
                </a:solidFill>
                <a:latin typeface="Calibri"/>
                <a:cs typeface="Calibri"/>
              </a:rPr>
              <a:t>mediante</a:t>
            </a:r>
            <a:r>
              <a:rPr sz="1400" spc="-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FF8FF"/>
                </a:solidFill>
                <a:latin typeface="Calibri"/>
                <a:cs typeface="Calibri"/>
              </a:rPr>
              <a:t>MQTT</a:t>
            </a:r>
            <a:r>
              <a:rPr sz="14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EFF8FF"/>
                </a:solidFill>
                <a:latin typeface="Calibri"/>
                <a:cs typeface="Calibri"/>
              </a:rPr>
              <a:t>y</a:t>
            </a:r>
            <a:r>
              <a:rPr sz="14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EFF8FF"/>
                </a:solidFill>
                <a:latin typeface="Calibri"/>
                <a:cs typeface="Calibri"/>
              </a:rPr>
              <a:t>ESP32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Daniel</a:t>
            </a:r>
            <a:r>
              <a:rPr sz="1300" spc="-5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David</a:t>
            </a:r>
            <a:r>
              <a:rPr sz="1300" spc="-5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Gomez</a:t>
            </a:r>
            <a:r>
              <a:rPr sz="1300" spc="-4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Britto</a:t>
            </a:r>
            <a:r>
              <a:rPr sz="1300" spc="2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·</a:t>
            </a:r>
            <a:r>
              <a:rPr sz="1300" spc="2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Juan</a:t>
            </a:r>
            <a:r>
              <a:rPr sz="1300" spc="-5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Camilo</a:t>
            </a:r>
            <a:r>
              <a:rPr sz="1300" spc="-5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93A2B7"/>
                </a:solidFill>
                <a:latin typeface="Calibri"/>
                <a:cs typeface="Calibri"/>
              </a:rPr>
              <a:t>Silva</a:t>
            </a:r>
            <a:r>
              <a:rPr sz="1300" spc="-4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93A2B7"/>
                </a:solidFill>
                <a:latin typeface="Calibri"/>
                <a:cs typeface="Calibri"/>
              </a:rPr>
              <a:t>Velasco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1100" spc="-10" dirty="0">
                <a:solidFill>
                  <a:srgbClr val="465468"/>
                </a:solidFill>
                <a:latin typeface="Calibri"/>
                <a:cs typeface="Calibri"/>
              </a:rPr>
              <a:t>Universidad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 de</a:t>
            </a:r>
            <a:r>
              <a:rPr sz="11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La</a:t>
            </a:r>
            <a:r>
              <a:rPr sz="11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Sabana</a:t>
            </a:r>
            <a:r>
              <a:rPr sz="1100" spc="2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1100" spc="2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Ingeniería</a:t>
            </a:r>
            <a:r>
              <a:rPr sz="11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de Sistemas</a:t>
            </a:r>
            <a:r>
              <a:rPr sz="1100" spc="24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·</a:t>
            </a:r>
            <a:r>
              <a:rPr sz="1100" spc="229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465468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6240" y="136793"/>
            <a:ext cx="4526280" cy="4590415"/>
            <a:chOff x="4206240" y="136793"/>
            <a:chExt cx="4526280" cy="4590415"/>
          </a:xfrm>
        </p:grpSpPr>
        <p:pic>
          <p:nvPicPr>
            <p:cNvPr id="18" name="object 1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6240" y="4315677"/>
              <a:ext cx="411124" cy="411124"/>
            </a:xfrm>
            <a:prstGeom prst="rect">
              <a:avLst/>
            </a:prstGeom>
          </p:spPr>
        </p:pic>
        <p:pic>
          <p:nvPicPr>
            <p:cNvPr id="19" name="object 19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1040" y="136793"/>
              <a:ext cx="411124" cy="411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¿Qué</a:t>
            </a:r>
            <a:r>
              <a:rPr spc="-120" dirty="0"/>
              <a:t> </a:t>
            </a:r>
            <a:r>
              <a:rPr dirty="0"/>
              <a:t>problema</a:t>
            </a:r>
            <a:r>
              <a:rPr spc="-130" dirty="0"/>
              <a:t> </a:t>
            </a:r>
            <a:r>
              <a:rPr spc="-10" dirty="0"/>
              <a:t>resuelve?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5404" y="868682"/>
            <a:ext cx="5303520" cy="777240"/>
            <a:chOff x="365404" y="868682"/>
            <a:chExt cx="5303520" cy="777240"/>
          </a:xfrm>
        </p:grpSpPr>
        <p:sp>
          <p:nvSpPr>
            <p:cNvPr id="7" name="object 7"/>
            <p:cNvSpPr/>
            <p:nvPr/>
          </p:nvSpPr>
          <p:spPr>
            <a:xfrm>
              <a:off x="365404" y="868682"/>
              <a:ext cx="5303520" cy="777240"/>
            </a:xfrm>
            <a:custGeom>
              <a:avLst/>
              <a:gdLst/>
              <a:ahLst/>
              <a:cxnLst/>
              <a:rect l="l" t="t" r="r" b="b"/>
              <a:pathLst>
                <a:path w="5303520" h="777239">
                  <a:moveTo>
                    <a:pt x="530315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2651760" y="776884"/>
                  </a:lnTo>
                  <a:lnTo>
                    <a:pt x="5303151" y="776884"/>
                  </a:lnTo>
                  <a:lnTo>
                    <a:pt x="5303151" y="0"/>
                  </a:lnTo>
                  <a:close/>
                </a:path>
              </a:pathLst>
            </a:custGeom>
            <a:solidFill>
              <a:srgbClr val="111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1005473"/>
              <a:ext cx="319684" cy="31968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5404" y="868682"/>
            <a:ext cx="5303520" cy="77724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300">
              <a:latin typeface="Times New Roman"/>
              <a:cs typeface="Times New Roman"/>
            </a:endParaRPr>
          </a:p>
          <a:p>
            <a:pPr marL="683895">
              <a:lnSpc>
                <a:spcPct val="100000"/>
              </a:lnSpc>
            </a:pP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Los</a:t>
            </a:r>
            <a:r>
              <a:rPr sz="1300" spc="-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controles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tradicionales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no</a:t>
            </a:r>
            <a:r>
              <a:rPr sz="1300" spc="-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tienen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retroalimentación</a:t>
            </a:r>
            <a:r>
              <a:rPr sz="1300" spc="-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de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estado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5404" y="1828801"/>
            <a:ext cx="5303520" cy="777240"/>
            <a:chOff x="365404" y="1828801"/>
            <a:chExt cx="5303520" cy="777240"/>
          </a:xfrm>
        </p:grpSpPr>
        <p:sp>
          <p:nvSpPr>
            <p:cNvPr id="11" name="object 11"/>
            <p:cNvSpPr/>
            <p:nvPr/>
          </p:nvSpPr>
          <p:spPr>
            <a:xfrm>
              <a:off x="365404" y="1828801"/>
              <a:ext cx="5303520" cy="777240"/>
            </a:xfrm>
            <a:custGeom>
              <a:avLst/>
              <a:gdLst/>
              <a:ahLst/>
              <a:cxnLst/>
              <a:rect l="l" t="t" r="r" b="b"/>
              <a:pathLst>
                <a:path w="5303520" h="777239">
                  <a:moveTo>
                    <a:pt x="530315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2651760" y="776884"/>
                  </a:lnTo>
                  <a:lnTo>
                    <a:pt x="5303151" y="776884"/>
                  </a:lnTo>
                  <a:lnTo>
                    <a:pt x="5303151" y="0"/>
                  </a:lnTo>
                  <a:close/>
                </a:path>
              </a:pathLst>
            </a:custGeom>
            <a:solidFill>
              <a:srgbClr val="111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1965593"/>
              <a:ext cx="319684" cy="31968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65404" y="1828801"/>
            <a:ext cx="5303520" cy="77724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300">
              <a:latin typeface="Times New Roman"/>
              <a:cs typeface="Times New Roman"/>
            </a:endParaRPr>
          </a:p>
          <a:p>
            <a:pPr marL="683895">
              <a:lnSpc>
                <a:spcPct val="100000"/>
              </a:lnSpc>
            </a:pP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Dependen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de</a:t>
            </a:r>
            <a:r>
              <a:rPr sz="1300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línea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de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visión</a:t>
            </a:r>
            <a:r>
              <a:rPr sz="1300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o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hardware</a:t>
            </a:r>
            <a:r>
              <a:rPr sz="1300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costoso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5404" y="2788922"/>
            <a:ext cx="5303520" cy="777240"/>
            <a:chOff x="365404" y="2788922"/>
            <a:chExt cx="5303520" cy="777240"/>
          </a:xfrm>
        </p:grpSpPr>
        <p:sp>
          <p:nvSpPr>
            <p:cNvPr id="15" name="object 15"/>
            <p:cNvSpPr/>
            <p:nvPr/>
          </p:nvSpPr>
          <p:spPr>
            <a:xfrm>
              <a:off x="365404" y="2788922"/>
              <a:ext cx="5303520" cy="777240"/>
            </a:xfrm>
            <a:custGeom>
              <a:avLst/>
              <a:gdLst/>
              <a:ahLst/>
              <a:cxnLst/>
              <a:rect l="l" t="t" r="r" b="b"/>
              <a:pathLst>
                <a:path w="5303520" h="777239">
                  <a:moveTo>
                    <a:pt x="530315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2651760" y="776884"/>
                  </a:lnTo>
                  <a:lnTo>
                    <a:pt x="5303151" y="776884"/>
                  </a:lnTo>
                  <a:lnTo>
                    <a:pt x="5303151" y="0"/>
                  </a:lnTo>
                  <a:close/>
                </a:path>
              </a:pathLst>
            </a:custGeom>
            <a:solidFill>
              <a:srgbClr val="111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2925713"/>
              <a:ext cx="319684" cy="31968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65404" y="2788922"/>
            <a:ext cx="5303520" cy="77724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300">
              <a:latin typeface="Times New Roman"/>
              <a:cs typeface="Times New Roman"/>
            </a:endParaRPr>
          </a:p>
          <a:p>
            <a:pPr marL="683895">
              <a:lnSpc>
                <a:spcPct val="100000"/>
              </a:lnSpc>
            </a:pP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No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son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personalizables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ni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extensibles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9104" y="3815817"/>
            <a:ext cx="5316220" cy="881380"/>
            <a:chOff x="359104" y="3815817"/>
            <a:chExt cx="5316220" cy="881380"/>
          </a:xfrm>
        </p:grpSpPr>
        <p:sp>
          <p:nvSpPr>
            <p:cNvPr id="19" name="object 19"/>
            <p:cNvSpPr/>
            <p:nvPr/>
          </p:nvSpPr>
          <p:spPr>
            <a:xfrm>
              <a:off x="365404" y="3822117"/>
              <a:ext cx="5303520" cy="868680"/>
            </a:xfrm>
            <a:custGeom>
              <a:avLst/>
              <a:gdLst/>
              <a:ahLst/>
              <a:cxnLst/>
              <a:rect l="l" t="t" r="r" b="b"/>
              <a:pathLst>
                <a:path w="5303520" h="868679">
                  <a:moveTo>
                    <a:pt x="5303151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2651760" y="868324"/>
                  </a:lnTo>
                  <a:lnTo>
                    <a:pt x="5303151" y="868324"/>
                  </a:lnTo>
                  <a:lnTo>
                    <a:pt x="5303151" y="0"/>
                  </a:lnTo>
                  <a:close/>
                </a:path>
              </a:pathLst>
            </a:custGeom>
            <a:solidFill>
              <a:srgbClr val="0C29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404" y="3822117"/>
              <a:ext cx="5303520" cy="868680"/>
            </a:xfrm>
            <a:custGeom>
              <a:avLst/>
              <a:gdLst/>
              <a:ahLst/>
              <a:cxnLst/>
              <a:rect l="l" t="t" r="r" b="b"/>
              <a:pathLst>
                <a:path w="5303520" h="868679">
                  <a:moveTo>
                    <a:pt x="2651760" y="868324"/>
                  </a:moveTo>
                  <a:lnTo>
                    <a:pt x="0" y="868324"/>
                  </a:lnTo>
                  <a:lnTo>
                    <a:pt x="0" y="0"/>
                  </a:lnTo>
                  <a:lnTo>
                    <a:pt x="5303151" y="0"/>
                  </a:lnTo>
                  <a:lnTo>
                    <a:pt x="5303151" y="868324"/>
                  </a:lnTo>
                  <a:lnTo>
                    <a:pt x="2651760" y="868324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760" y="3822117"/>
              <a:ext cx="164465" cy="868680"/>
            </a:xfrm>
            <a:custGeom>
              <a:avLst/>
              <a:gdLst/>
              <a:ahLst/>
              <a:cxnLst/>
              <a:rect l="l" t="t" r="r" b="b"/>
              <a:pathLst>
                <a:path w="164465" h="868679">
                  <a:moveTo>
                    <a:pt x="164160" y="0"/>
                  </a:moveTo>
                  <a:lnTo>
                    <a:pt x="0" y="0"/>
                  </a:lnTo>
                  <a:lnTo>
                    <a:pt x="0" y="868324"/>
                  </a:lnTo>
                  <a:lnTo>
                    <a:pt x="82080" y="868324"/>
                  </a:lnTo>
                  <a:lnTo>
                    <a:pt x="164160" y="868324"/>
                  </a:lnTo>
                  <a:lnTo>
                    <a:pt x="164160" y="0"/>
                  </a:lnTo>
                  <a:close/>
                </a:path>
              </a:pathLst>
            </a:custGeom>
            <a:solidFill>
              <a:srgbClr val="00F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760" y="3822117"/>
              <a:ext cx="164465" cy="868680"/>
            </a:xfrm>
            <a:custGeom>
              <a:avLst/>
              <a:gdLst/>
              <a:ahLst/>
              <a:cxnLst/>
              <a:rect l="l" t="t" r="r" b="b"/>
              <a:pathLst>
                <a:path w="164465" h="868679">
                  <a:moveTo>
                    <a:pt x="82080" y="868324"/>
                  </a:moveTo>
                  <a:lnTo>
                    <a:pt x="0" y="868324"/>
                  </a:lnTo>
                  <a:lnTo>
                    <a:pt x="0" y="0"/>
                  </a:lnTo>
                  <a:lnTo>
                    <a:pt x="164160" y="0"/>
                  </a:lnTo>
                  <a:lnTo>
                    <a:pt x="164160" y="868324"/>
                  </a:lnTo>
                  <a:lnTo>
                    <a:pt x="82080" y="868324"/>
                  </a:lnTo>
                  <a:close/>
                </a:path>
              </a:pathLst>
            </a:custGeom>
            <a:ln w="12599">
              <a:solidFill>
                <a:srgbClr val="00F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3977273"/>
              <a:ext cx="319684" cy="31968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6220" y="4060700"/>
            <a:ext cx="5126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4520" marR="18796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F4D3"/>
                </a:solidFill>
                <a:latin typeface="Calibri"/>
                <a:cs typeface="Calibri"/>
              </a:rPr>
              <a:t>Solución:</a:t>
            </a:r>
            <a:r>
              <a:rPr sz="1200" b="1" spc="-1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SmartJoy</a:t>
            </a:r>
            <a:r>
              <a:rPr sz="1200" spc="-1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—</a:t>
            </a:r>
            <a:r>
              <a:rPr sz="1200" spc="-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EFF8FF"/>
                </a:solidFill>
                <a:latin typeface="Calibri"/>
                <a:cs typeface="Calibri"/>
              </a:rPr>
              <a:t>control inalámbrico bidireccional</a:t>
            </a:r>
            <a:r>
              <a:rPr sz="12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por</a:t>
            </a:r>
            <a:r>
              <a:rPr sz="12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MQTT</a:t>
            </a:r>
            <a:r>
              <a:rPr sz="12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EFF8FF"/>
                </a:solidFill>
                <a:latin typeface="Calibri"/>
                <a:cs typeface="Calibri"/>
              </a:rPr>
              <a:t>con </a:t>
            </a:r>
            <a:r>
              <a:rPr sz="1200" spc="-10" dirty="0">
                <a:solidFill>
                  <a:srgbClr val="EFF8FF"/>
                </a:solidFill>
                <a:latin typeface="Calibri"/>
                <a:cs typeface="Calibri"/>
              </a:rPr>
              <a:t>confirmación</a:t>
            </a:r>
            <a:r>
              <a:rPr sz="12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de</a:t>
            </a:r>
            <a:r>
              <a:rPr sz="12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estado</a:t>
            </a:r>
            <a:r>
              <a:rPr sz="12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en</a:t>
            </a:r>
            <a:r>
              <a:rPr sz="12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FF8FF"/>
                </a:solidFill>
                <a:latin typeface="Calibri"/>
                <a:cs typeface="Calibri"/>
              </a:rPr>
              <a:t>tiempo</a:t>
            </a:r>
            <a:r>
              <a:rPr sz="12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EFF8FF"/>
                </a:solidFill>
                <a:latin typeface="Calibri"/>
                <a:cs typeface="Calibri"/>
              </a:rPr>
              <a:t>real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43244" y="868682"/>
            <a:ext cx="2834640" cy="3822065"/>
          </a:xfrm>
          <a:custGeom>
            <a:avLst/>
            <a:gdLst/>
            <a:ahLst/>
            <a:cxnLst/>
            <a:rect l="l" t="t" r="r" b="b"/>
            <a:pathLst>
              <a:path w="2834640" h="3822065">
                <a:moveTo>
                  <a:pt x="2834271" y="0"/>
                </a:moveTo>
                <a:lnTo>
                  <a:pt x="0" y="0"/>
                </a:lnTo>
                <a:lnTo>
                  <a:pt x="0" y="3821760"/>
                </a:lnTo>
                <a:lnTo>
                  <a:pt x="1417320" y="3821760"/>
                </a:lnTo>
                <a:lnTo>
                  <a:pt x="2834271" y="3821760"/>
                </a:lnTo>
                <a:lnTo>
                  <a:pt x="2834271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943244" y="868682"/>
            <a:ext cx="2834640" cy="382206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100">
              <a:latin typeface="Times New Roman"/>
              <a:cs typeface="Times New Roman"/>
            </a:endParaRPr>
          </a:p>
          <a:p>
            <a:pPr marL="822960">
              <a:lnSpc>
                <a:spcPct val="100000"/>
              </a:lnSpc>
            </a:pP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[</a:t>
            </a:r>
            <a:r>
              <a:rPr sz="11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Foto</a:t>
            </a:r>
            <a:r>
              <a:rPr sz="1100" spc="-1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del</a:t>
            </a:r>
            <a:r>
              <a:rPr sz="1100" spc="-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465468"/>
                </a:solidFill>
                <a:latin typeface="Calibri"/>
                <a:cs typeface="Calibri"/>
              </a:rPr>
              <a:t>hardware</a:t>
            </a:r>
            <a:r>
              <a:rPr sz="11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465468"/>
                </a:solidFill>
                <a:latin typeface="Calibri"/>
                <a:cs typeface="Calibri"/>
              </a:rPr>
              <a:t>]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7" name="object 27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40880" y="1371233"/>
            <a:ext cx="639724" cy="639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Arquitectura</a:t>
            </a:r>
            <a:r>
              <a:rPr spc="-60" dirty="0"/>
              <a:t> </a:t>
            </a:r>
            <a:r>
              <a:rPr dirty="0"/>
              <a:t>del</a:t>
            </a:r>
            <a:r>
              <a:rPr spc="-55" dirty="0"/>
              <a:t> </a:t>
            </a:r>
            <a:r>
              <a:rPr spc="-10" dirty="0"/>
              <a:t>sistema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273964" y="1371602"/>
            <a:ext cx="1554480" cy="685800"/>
          </a:xfrm>
          <a:custGeom>
            <a:avLst/>
            <a:gdLst/>
            <a:ahLst/>
            <a:cxnLst/>
            <a:rect l="l" t="t" r="r" b="b"/>
            <a:pathLst>
              <a:path w="1554480" h="685800">
                <a:moveTo>
                  <a:pt x="1554111" y="0"/>
                </a:moveTo>
                <a:lnTo>
                  <a:pt x="0" y="0"/>
                </a:lnTo>
                <a:lnTo>
                  <a:pt x="0" y="685444"/>
                </a:lnTo>
                <a:lnTo>
                  <a:pt x="777240" y="685444"/>
                </a:lnTo>
                <a:lnTo>
                  <a:pt x="1554111" y="685444"/>
                </a:lnTo>
                <a:lnTo>
                  <a:pt x="1554111" y="0"/>
                </a:lnTo>
                <a:close/>
              </a:path>
            </a:pathLst>
          </a:custGeom>
          <a:solidFill>
            <a:srgbClr val="0E26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3964" y="1371602"/>
            <a:ext cx="1554480" cy="685800"/>
          </a:xfrm>
          <a:prstGeom prst="rect">
            <a:avLst/>
          </a:prstGeom>
          <a:ln w="12599">
            <a:solidFill>
              <a:srgbClr val="0DA4E8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50" spc="-30" dirty="0">
                <a:solidFill>
                  <a:srgbClr val="EFF8FF"/>
                </a:solidFill>
                <a:latin typeface="Calibri"/>
                <a:cs typeface="Calibri"/>
              </a:rPr>
              <a:t>KY-</a:t>
            </a:r>
            <a:r>
              <a:rPr sz="950" dirty="0">
                <a:solidFill>
                  <a:srgbClr val="EFF8FF"/>
                </a:solidFill>
                <a:latin typeface="Calibri"/>
                <a:cs typeface="Calibri"/>
              </a:rPr>
              <a:t>023</a:t>
            </a:r>
            <a:r>
              <a:rPr sz="95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EFF8FF"/>
                </a:solidFill>
                <a:latin typeface="Calibri"/>
                <a:cs typeface="Calibri"/>
              </a:rPr>
              <a:t>#1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50" spc="-10" dirty="0">
                <a:solidFill>
                  <a:srgbClr val="EFF8FF"/>
                </a:solidFill>
                <a:latin typeface="Calibri"/>
                <a:cs typeface="Calibri"/>
              </a:rPr>
              <a:t>(Mouse)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3964" y="2651761"/>
            <a:ext cx="1554480" cy="685800"/>
          </a:xfrm>
          <a:custGeom>
            <a:avLst/>
            <a:gdLst/>
            <a:ahLst/>
            <a:cxnLst/>
            <a:rect l="l" t="t" r="r" b="b"/>
            <a:pathLst>
              <a:path w="1554480" h="685800">
                <a:moveTo>
                  <a:pt x="1554111" y="0"/>
                </a:moveTo>
                <a:lnTo>
                  <a:pt x="0" y="0"/>
                </a:lnTo>
                <a:lnTo>
                  <a:pt x="0" y="685444"/>
                </a:lnTo>
                <a:lnTo>
                  <a:pt x="777240" y="685444"/>
                </a:lnTo>
                <a:lnTo>
                  <a:pt x="1554111" y="685444"/>
                </a:lnTo>
                <a:lnTo>
                  <a:pt x="1554111" y="0"/>
                </a:lnTo>
                <a:close/>
              </a:path>
            </a:pathLst>
          </a:custGeom>
          <a:solidFill>
            <a:srgbClr val="0E26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73964" y="2651761"/>
            <a:ext cx="1554480" cy="685800"/>
          </a:xfrm>
          <a:prstGeom prst="rect">
            <a:avLst/>
          </a:prstGeom>
          <a:ln w="12599">
            <a:solidFill>
              <a:srgbClr val="0DA4E8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50" spc="-30" dirty="0">
                <a:solidFill>
                  <a:srgbClr val="EFF8FF"/>
                </a:solidFill>
                <a:latin typeface="Calibri"/>
                <a:cs typeface="Calibri"/>
              </a:rPr>
              <a:t>KY-</a:t>
            </a:r>
            <a:r>
              <a:rPr sz="950" dirty="0">
                <a:solidFill>
                  <a:srgbClr val="EFF8FF"/>
                </a:solidFill>
                <a:latin typeface="Calibri"/>
                <a:cs typeface="Calibri"/>
              </a:rPr>
              <a:t>023</a:t>
            </a:r>
            <a:r>
              <a:rPr sz="95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EFF8FF"/>
                </a:solidFill>
                <a:latin typeface="Calibri"/>
                <a:cs typeface="Calibri"/>
              </a:rPr>
              <a:t>#2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50" spc="-10" dirty="0">
                <a:solidFill>
                  <a:srgbClr val="EFF8FF"/>
                </a:solidFill>
                <a:latin typeface="Calibri"/>
                <a:cs typeface="Calibri"/>
              </a:rPr>
              <a:t>(Teclado)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1324" y="1828801"/>
            <a:ext cx="1554480" cy="685800"/>
          </a:xfrm>
          <a:custGeom>
            <a:avLst/>
            <a:gdLst/>
            <a:ahLst/>
            <a:cxnLst/>
            <a:rect l="l" t="t" r="r" b="b"/>
            <a:pathLst>
              <a:path w="1554479" h="685800">
                <a:moveTo>
                  <a:pt x="1554111" y="0"/>
                </a:moveTo>
                <a:lnTo>
                  <a:pt x="0" y="0"/>
                </a:lnTo>
                <a:lnTo>
                  <a:pt x="0" y="685444"/>
                </a:lnTo>
                <a:lnTo>
                  <a:pt x="777239" y="685444"/>
                </a:lnTo>
                <a:lnTo>
                  <a:pt x="1554111" y="685444"/>
                </a:lnTo>
                <a:lnTo>
                  <a:pt x="1554111" y="0"/>
                </a:lnTo>
                <a:close/>
              </a:path>
            </a:pathLst>
          </a:custGeom>
          <a:solidFill>
            <a:srgbClr val="0E33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11324" y="1828801"/>
            <a:ext cx="1554480" cy="685800"/>
          </a:xfrm>
          <a:prstGeom prst="rect">
            <a:avLst/>
          </a:prstGeom>
          <a:ln w="12599">
            <a:solidFill>
              <a:srgbClr val="0DA4E8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950">
              <a:latin typeface="Times New Roman"/>
              <a:cs typeface="Times New Roman"/>
            </a:endParaRPr>
          </a:p>
          <a:p>
            <a:pPr marL="480695" marR="474345" indent="147955">
              <a:lnSpc>
                <a:spcPct val="100000"/>
              </a:lnSpc>
            </a:pPr>
            <a:r>
              <a:rPr sz="950" spc="-10" dirty="0">
                <a:solidFill>
                  <a:srgbClr val="EFF8FF"/>
                </a:solidFill>
                <a:latin typeface="Calibri"/>
                <a:cs typeface="Calibri"/>
              </a:rPr>
              <a:t>ESP32 </a:t>
            </a:r>
            <a:r>
              <a:rPr sz="950" spc="-20" dirty="0">
                <a:solidFill>
                  <a:srgbClr val="EFF8FF"/>
                </a:solidFill>
                <a:latin typeface="Calibri"/>
                <a:cs typeface="Calibri"/>
              </a:rPr>
              <a:t>WROOM-</a:t>
            </a:r>
            <a:r>
              <a:rPr sz="950" spc="-25" dirty="0">
                <a:solidFill>
                  <a:srgbClr val="EFF8FF"/>
                </a:solidFill>
                <a:latin typeface="Calibri"/>
                <a:cs typeface="Calibri"/>
              </a:rPr>
              <a:t>32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31564" y="1828801"/>
            <a:ext cx="1554480" cy="685800"/>
          </a:xfrm>
          <a:custGeom>
            <a:avLst/>
            <a:gdLst/>
            <a:ahLst/>
            <a:cxnLst/>
            <a:rect l="l" t="t" r="r" b="b"/>
            <a:pathLst>
              <a:path w="1554479" h="685800">
                <a:moveTo>
                  <a:pt x="1554111" y="0"/>
                </a:moveTo>
                <a:lnTo>
                  <a:pt x="0" y="0"/>
                </a:lnTo>
                <a:lnTo>
                  <a:pt x="0" y="685444"/>
                </a:lnTo>
                <a:lnTo>
                  <a:pt x="777239" y="685444"/>
                </a:lnTo>
                <a:lnTo>
                  <a:pt x="1554111" y="685444"/>
                </a:lnTo>
                <a:lnTo>
                  <a:pt x="1554111" y="0"/>
                </a:lnTo>
                <a:close/>
              </a:path>
            </a:pathLst>
          </a:custGeom>
          <a:solidFill>
            <a:srgbClr val="09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31564" y="1828801"/>
            <a:ext cx="1554480" cy="685800"/>
          </a:xfrm>
          <a:prstGeom prst="rect">
            <a:avLst/>
          </a:prstGeom>
          <a:ln w="12599">
            <a:solidFill>
              <a:srgbClr val="0DA4E8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950">
              <a:latin typeface="Times New Roman"/>
              <a:cs typeface="Times New Roman"/>
            </a:endParaRPr>
          </a:p>
          <a:p>
            <a:pPr marL="522605" marR="415925" indent="-100965">
              <a:lnSpc>
                <a:spcPct val="100000"/>
              </a:lnSpc>
            </a:pPr>
            <a:r>
              <a:rPr sz="950" dirty="0">
                <a:solidFill>
                  <a:srgbClr val="EFF8FF"/>
                </a:solidFill>
                <a:latin typeface="Calibri"/>
                <a:cs typeface="Calibri"/>
              </a:rPr>
              <a:t>HiveMQ</a:t>
            </a:r>
            <a:r>
              <a:rPr sz="950" spc="-4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FF8FF"/>
                </a:solidFill>
                <a:latin typeface="Calibri"/>
                <a:cs typeface="Calibri"/>
              </a:rPr>
              <a:t>Cloud </a:t>
            </a:r>
            <a:r>
              <a:rPr sz="950" dirty="0">
                <a:solidFill>
                  <a:srgbClr val="EFF8FF"/>
                </a:solidFill>
                <a:latin typeface="Calibri"/>
                <a:cs typeface="Calibri"/>
              </a:rPr>
              <a:t>(TLS</a:t>
            </a:r>
            <a:r>
              <a:rPr sz="95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EFF8FF"/>
                </a:solidFill>
                <a:latin typeface="Calibri"/>
                <a:cs typeface="Calibri"/>
              </a:rPr>
              <a:t>8883)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3244" y="1828801"/>
            <a:ext cx="1554480" cy="685800"/>
          </a:xfrm>
          <a:custGeom>
            <a:avLst/>
            <a:gdLst/>
            <a:ahLst/>
            <a:cxnLst/>
            <a:rect l="l" t="t" r="r" b="b"/>
            <a:pathLst>
              <a:path w="1554479" h="685800">
                <a:moveTo>
                  <a:pt x="1554111" y="0"/>
                </a:moveTo>
                <a:lnTo>
                  <a:pt x="0" y="0"/>
                </a:lnTo>
                <a:lnTo>
                  <a:pt x="0" y="685444"/>
                </a:lnTo>
                <a:lnTo>
                  <a:pt x="777240" y="685444"/>
                </a:lnTo>
                <a:lnTo>
                  <a:pt x="1554111" y="685444"/>
                </a:lnTo>
                <a:lnTo>
                  <a:pt x="1554111" y="0"/>
                </a:lnTo>
                <a:close/>
              </a:path>
            </a:pathLst>
          </a:custGeom>
          <a:solidFill>
            <a:srgbClr val="190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43244" y="1828801"/>
            <a:ext cx="1554480" cy="685800"/>
          </a:xfrm>
          <a:prstGeom prst="rect">
            <a:avLst/>
          </a:prstGeom>
          <a:ln w="12599">
            <a:solidFill>
              <a:srgbClr val="0DA4E8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65"/>
              </a:spcBef>
            </a:pPr>
            <a:endParaRPr sz="950">
              <a:latin typeface="Times New Roman"/>
              <a:cs typeface="Times New Roman"/>
            </a:endParaRPr>
          </a:p>
          <a:p>
            <a:pPr marL="603250" marR="594995" indent="-635" algn="ctr">
              <a:lnSpc>
                <a:spcPct val="100000"/>
              </a:lnSpc>
            </a:pPr>
            <a:r>
              <a:rPr sz="950" spc="-10" dirty="0">
                <a:solidFill>
                  <a:srgbClr val="EFF8FF"/>
                </a:solidFill>
                <a:latin typeface="Calibri"/>
                <a:cs typeface="Calibri"/>
              </a:rPr>
              <a:t>Script Python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65694" y="1365252"/>
            <a:ext cx="1384300" cy="698500"/>
            <a:chOff x="7765694" y="1365252"/>
            <a:chExt cx="1384300" cy="698500"/>
          </a:xfrm>
        </p:grpSpPr>
        <p:sp>
          <p:nvSpPr>
            <p:cNvPr id="17" name="object 17"/>
            <p:cNvSpPr/>
            <p:nvPr/>
          </p:nvSpPr>
          <p:spPr>
            <a:xfrm>
              <a:off x="7772044" y="1371602"/>
              <a:ext cx="1371600" cy="685800"/>
            </a:xfrm>
            <a:custGeom>
              <a:avLst/>
              <a:gdLst/>
              <a:ahLst/>
              <a:cxnLst/>
              <a:rect l="l" t="t" r="r" b="b"/>
              <a:pathLst>
                <a:path w="1371600" h="685800">
                  <a:moveTo>
                    <a:pt x="1371587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1371587" y="685444"/>
                  </a:lnTo>
                  <a:lnTo>
                    <a:pt x="1371587" y="0"/>
                  </a:lnTo>
                  <a:close/>
                </a:path>
              </a:pathLst>
            </a:custGeom>
            <a:solidFill>
              <a:srgbClr val="0E26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72044" y="1371602"/>
              <a:ext cx="1371600" cy="685800"/>
            </a:xfrm>
            <a:custGeom>
              <a:avLst/>
              <a:gdLst/>
              <a:ahLst/>
              <a:cxnLst/>
              <a:rect l="l" t="t" r="r" b="b"/>
              <a:pathLst>
                <a:path w="1371600" h="685800">
                  <a:moveTo>
                    <a:pt x="1371587" y="685444"/>
                  </a:moveTo>
                  <a:lnTo>
                    <a:pt x="777240" y="685444"/>
                  </a:lnTo>
                  <a:lnTo>
                    <a:pt x="0" y="685444"/>
                  </a:lnTo>
                  <a:lnTo>
                    <a:pt x="0" y="0"/>
                  </a:lnTo>
                  <a:lnTo>
                    <a:pt x="1371587" y="0"/>
                  </a:lnTo>
                </a:path>
              </a:pathLst>
            </a:custGeom>
            <a:ln w="12599">
              <a:solidFill>
                <a:srgbClr val="0DA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78344" y="1629259"/>
            <a:ext cx="136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EFF8FF"/>
                </a:solidFill>
                <a:latin typeface="Calibri"/>
                <a:cs typeface="Calibri"/>
              </a:rPr>
              <a:t>Mouse</a:t>
            </a:r>
            <a:r>
              <a:rPr sz="950" spc="-5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EFF8FF"/>
                </a:solidFill>
                <a:latin typeface="Calibri"/>
                <a:cs typeface="Calibri"/>
              </a:rPr>
              <a:t>PC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65694" y="2645411"/>
            <a:ext cx="1384300" cy="698500"/>
            <a:chOff x="7765694" y="2645411"/>
            <a:chExt cx="1384300" cy="698500"/>
          </a:xfrm>
        </p:grpSpPr>
        <p:sp>
          <p:nvSpPr>
            <p:cNvPr id="21" name="object 21"/>
            <p:cNvSpPr/>
            <p:nvPr/>
          </p:nvSpPr>
          <p:spPr>
            <a:xfrm>
              <a:off x="7772044" y="2651761"/>
              <a:ext cx="1371600" cy="685800"/>
            </a:xfrm>
            <a:custGeom>
              <a:avLst/>
              <a:gdLst/>
              <a:ahLst/>
              <a:cxnLst/>
              <a:rect l="l" t="t" r="r" b="b"/>
              <a:pathLst>
                <a:path w="1371600" h="685800">
                  <a:moveTo>
                    <a:pt x="1371587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1371587" y="685444"/>
                  </a:lnTo>
                  <a:lnTo>
                    <a:pt x="1371587" y="0"/>
                  </a:lnTo>
                  <a:close/>
                </a:path>
              </a:pathLst>
            </a:custGeom>
            <a:solidFill>
              <a:srgbClr val="0E26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72044" y="2651761"/>
              <a:ext cx="1371600" cy="685800"/>
            </a:xfrm>
            <a:custGeom>
              <a:avLst/>
              <a:gdLst/>
              <a:ahLst/>
              <a:cxnLst/>
              <a:rect l="l" t="t" r="r" b="b"/>
              <a:pathLst>
                <a:path w="1371600" h="685800">
                  <a:moveTo>
                    <a:pt x="1371587" y="685444"/>
                  </a:moveTo>
                  <a:lnTo>
                    <a:pt x="777240" y="685444"/>
                  </a:lnTo>
                  <a:lnTo>
                    <a:pt x="0" y="685444"/>
                  </a:lnTo>
                  <a:lnTo>
                    <a:pt x="0" y="0"/>
                  </a:lnTo>
                  <a:lnTo>
                    <a:pt x="1371587" y="0"/>
                  </a:lnTo>
                </a:path>
              </a:pathLst>
            </a:custGeom>
            <a:ln w="12599">
              <a:solidFill>
                <a:srgbClr val="0DA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78344" y="2909419"/>
            <a:ext cx="1365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EFF8FF"/>
                </a:solidFill>
                <a:latin typeface="Calibri"/>
                <a:cs typeface="Calibri"/>
              </a:rPr>
              <a:t>Teclado</a:t>
            </a:r>
            <a:r>
              <a:rPr sz="950" spc="1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EFF8FF"/>
                </a:solidFill>
                <a:latin typeface="Calibri"/>
                <a:cs typeface="Calibri"/>
              </a:rPr>
              <a:t>PC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71540" y="1714324"/>
            <a:ext cx="2205355" cy="1120775"/>
            <a:chOff x="5571540" y="1714324"/>
            <a:chExt cx="2205355" cy="1120775"/>
          </a:xfrm>
        </p:grpSpPr>
        <p:sp>
          <p:nvSpPr>
            <p:cNvPr id="25" name="object 25"/>
            <p:cNvSpPr/>
            <p:nvPr/>
          </p:nvSpPr>
          <p:spPr>
            <a:xfrm>
              <a:off x="5577840" y="2148842"/>
              <a:ext cx="283845" cy="6985"/>
            </a:xfrm>
            <a:custGeom>
              <a:avLst/>
              <a:gdLst/>
              <a:ahLst/>
              <a:cxnLst/>
              <a:rect l="l" t="t" r="r" b="b"/>
              <a:pathLst>
                <a:path w="283845" h="6985">
                  <a:moveTo>
                    <a:pt x="0" y="0"/>
                  </a:moveTo>
                  <a:lnTo>
                    <a:pt x="283324" y="6845"/>
                  </a:lnTo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4674" y="2111758"/>
              <a:ext cx="88925" cy="8820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1780" y="1714324"/>
              <a:ext cx="280619" cy="21221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98080" y="2286002"/>
              <a:ext cx="238125" cy="474980"/>
            </a:xfrm>
            <a:custGeom>
              <a:avLst/>
              <a:gdLst/>
              <a:ahLst/>
              <a:cxnLst/>
              <a:rect l="l" t="t" r="r" b="b"/>
              <a:pathLst>
                <a:path w="238125" h="474980">
                  <a:moveTo>
                    <a:pt x="0" y="0"/>
                  </a:moveTo>
                  <a:lnTo>
                    <a:pt x="237604" y="474840"/>
                  </a:lnTo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7876" y="2740319"/>
              <a:ext cx="78841" cy="94322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1822450" y="1417322"/>
            <a:ext cx="3617595" cy="2246630"/>
            <a:chOff x="1822450" y="1417322"/>
            <a:chExt cx="3617595" cy="224663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2500" y="1708024"/>
              <a:ext cx="189179" cy="30365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828800" y="2456283"/>
              <a:ext cx="160020" cy="538480"/>
            </a:xfrm>
            <a:custGeom>
              <a:avLst/>
              <a:gdLst/>
              <a:ahLst/>
              <a:cxnLst/>
              <a:rect l="l" t="t" r="r" b="b"/>
              <a:pathLst>
                <a:path w="160019" h="538480">
                  <a:moveTo>
                    <a:pt x="0" y="538200"/>
                  </a:moveTo>
                  <a:lnTo>
                    <a:pt x="159473" y="0"/>
                  </a:lnTo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6884" y="2377441"/>
              <a:ext cx="84594" cy="9432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566160" y="2148841"/>
              <a:ext cx="283845" cy="6985"/>
            </a:xfrm>
            <a:custGeom>
              <a:avLst/>
              <a:gdLst/>
              <a:ahLst/>
              <a:cxnLst/>
              <a:rect l="l" t="t" r="r" b="b"/>
              <a:pathLst>
                <a:path w="283845" h="6985">
                  <a:moveTo>
                    <a:pt x="0" y="0"/>
                  </a:moveTo>
                  <a:lnTo>
                    <a:pt x="283324" y="6845"/>
                  </a:lnTo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2994" y="2111758"/>
              <a:ext cx="88925" cy="8820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127324" y="3154682"/>
              <a:ext cx="18415" cy="502920"/>
            </a:xfrm>
            <a:custGeom>
              <a:avLst/>
              <a:gdLst/>
              <a:ahLst/>
              <a:cxnLst/>
              <a:rect l="l" t="t" r="r" b="b"/>
              <a:pathLst>
                <a:path w="18414" h="502920">
                  <a:moveTo>
                    <a:pt x="17995" y="0"/>
                  </a:moveTo>
                  <a:lnTo>
                    <a:pt x="0" y="0"/>
                  </a:lnTo>
                  <a:lnTo>
                    <a:pt x="0" y="502564"/>
                  </a:lnTo>
                  <a:lnTo>
                    <a:pt x="8991" y="502564"/>
                  </a:lnTo>
                  <a:lnTo>
                    <a:pt x="17995" y="502564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27324" y="3154682"/>
              <a:ext cx="18415" cy="502920"/>
            </a:xfrm>
            <a:custGeom>
              <a:avLst/>
              <a:gdLst/>
              <a:ahLst/>
              <a:cxnLst/>
              <a:rect l="l" t="t" r="r" b="b"/>
              <a:pathLst>
                <a:path w="18414" h="502920">
                  <a:moveTo>
                    <a:pt x="8991" y="502564"/>
                  </a:moveTo>
                  <a:lnTo>
                    <a:pt x="0" y="502564"/>
                  </a:lnTo>
                  <a:lnTo>
                    <a:pt x="0" y="0"/>
                  </a:lnTo>
                  <a:lnTo>
                    <a:pt x="17995" y="0"/>
                  </a:lnTo>
                  <a:lnTo>
                    <a:pt x="17995" y="502564"/>
                  </a:lnTo>
                  <a:lnTo>
                    <a:pt x="8991" y="502564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90364" y="3154682"/>
              <a:ext cx="18415" cy="502920"/>
            </a:xfrm>
            <a:custGeom>
              <a:avLst/>
              <a:gdLst/>
              <a:ahLst/>
              <a:cxnLst/>
              <a:rect l="l" t="t" r="r" b="b"/>
              <a:pathLst>
                <a:path w="18414" h="502920">
                  <a:moveTo>
                    <a:pt x="17995" y="0"/>
                  </a:moveTo>
                  <a:lnTo>
                    <a:pt x="0" y="0"/>
                  </a:lnTo>
                  <a:lnTo>
                    <a:pt x="0" y="502564"/>
                  </a:lnTo>
                  <a:lnTo>
                    <a:pt x="8991" y="502564"/>
                  </a:lnTo>
                  <a:lnTo>
                    <a:pt x="17995" y="502564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90364" y="3154682"/>
              <a:ext cx="18415" cy="502920"/>
            </a:xfrm>
            <a:custGeom>
              <a:avLst/>
              <a:gdLst/>
              <a:ahLst/>
              <a:cxnLst/>
              <a:rect l="l" t="t" r="r" b="b"/>
              <a:pathLst>
                <a:path w="18414" h="502920">
                  <a:moveTo>
                    <a:pt x="8991" y="502564"/>
                  </a:moveTo>
                  <a:lnTo>
                    <a:pt x="0" y="502564"/>
                  </a:lnTo>
                  <a:lnTo>
                    <a:pt x="0" y="0"/>
                  </a:lnTo>
                  <a:lnTo>
                    <a:pt x="17995" y="0"/>
                  </a:lnTo>
                  <a:lnTo>
                    <a:pt x="17995" y="502564"/>
                  </a:lnTo>
                  <a:lnTo>
                    <a:pt x="8991" y="502564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34484" y="1417322"/>
              <a:ext cx="1005840" cy="255904"/>
            </a:xfrm>
            <a:custGeom>
              <a:avLst/>
              <a:gdLst/>
              <a:ahLst/>
              <a:cxnLst/>
              <a:rect l="l" t="t" r="r" b="b"/>
              <a:pathLst>
                <a:path w="1005839" h="255905">
                  <a:moveTo>
                    <a:pt x="1005471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502919" y="255600"/>
                  </a:lnTo>
                  <a:lnTo>
                    <a:pt x="1005471" y="255600"/>
                  </a:lnTo>
                  <a:lnTo>
                    <a:pt x="1005471" y="0"/>
                  </a:lnTo>
                  <a:close/>
                </a:path>
              </a:pathLst>
            </a:custGeom>
            <a:solidFill>
              <a:srgbClr val="092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2195" y="1435330"/>
              <a:ext cx="200875" cy="20087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434484" y="1417322"/>
            <a:ext cx="1005840" cy="255904"/>
          </a:xfrm>
          <a:prstGeom prst="rect">
            <a:avLst/>
          </a:prstGeom>
          <a:ln w="12599">
            <a:solidFill>
              <a:srgbClr val="00F4D3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556260" marR="165100" indent="-144780">
              <a:lnSpc>
                <a:spcPct val="100000"/>
              </a:lnSpc>
              <a:spcBef>
                <a:spcPts val="105"/>
              </a:spcBef>
            </a:pPr>
            <a:r>
              <a:rPr sz="750" spc="-10" dirty="0">
                <a:solidFill>
                  <a:srgbClr val="00F4D3"/>
                </a:solidFill>
                <a:latin typeface="Calibri"/>
                <a:cs typeface="Calibri"/>
              </a:rPr>
              <a:t>Encriptado</a:t>
            </a:r>
            <a:r>
              <a:rPr sz="750" spc="50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00F4D3"/>
                </a:solidFill>
                <a:latin typeface="Calibri"/>
                <a:cs typeface="Calibri"/>
              </a:rPr>
              <a:t>TLS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371089" y="3194051"/>
            <a:ext cx="1521460" cy="607060"/>
            <a:chOff x="2371089" y="3194051"/>
            <a:chExt cx="1521460" cy="607060"/>
          </a:xfrm>
        </p:grpSpPr>
        <p:sp>
          <p:nvSpPr>
            <p:cNvPr id="44" name="object 44"/>
            <p:cNvSpPr/>
            <p:nvPr/>
          </p:nvSpPr>
          <p:spPr>
            <a:xfrm>
              <a:off x="2377439" y="3200401"/>
              <a:ext cx="1508760" cy="594360"/>
            </a:xfrm>
            <a:custGeom>
              <a:avLst/>
              <a:gdLst/>
              <a:ahLst/>
              <a:cxnLst/>
              <a:rect l="l" t="t" r="r" b="b"/>
              <a:pathLst>
                <a:path w="1508760" h="594360">
                  <a:moveTo>
                    <a:pt x="150840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754202" y="594004"/>
                  </a:lnTo>
                  <a:lnTo>
                    <a:pt x="1508404" y="594004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101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77439" y="3200401"/>
              <a:ext cx="1508760" cy="594360"/>
            </a:xfrm>
            <a:custGeom>
              <a:avLst/>
              <a:gdLst/>
              <a:ahLst/>
              <a:cxnLst/>
              <a:rect l="l" t="t" r="r" b="b"/>
              <a:pathLst>
                <a:path w="1508760" h="594360">
                  <a:moveTo>
                    <a:pt x="75420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1508404" y="0"/>
                  </a:lnTo>
                  <a:lnTo>
                    <a:pt x="1508404" y="594004"/>
                  </a:lnTo>
                  <a:lnTo>
                    <a:pt x="754202" y="594004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32379" y="3347188"/>
            <a:ext cx="600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93A2B7"/>
                </a:solidFill>
                <a:latin typeface="Calibri"/>
                <a:cs typeface="Calibri"/>
              </a:rPr>
              <a:t>NTP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93A2B7"/>
                </a:solidFill>
                <a:latin typeface="Calibri"/>
                <a:cs typeface="Calibri"/>
              </a:rPr>
              <a:t>pool.ntp.org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879899" y="3194102"/>
            <a:ext cx="1521460" cy="607060"/>
            <a:chOff x="3879899" y="3194102"/>
            <a:chExt cx="1521460" cy="607060"/>
          </a:xfrm>
        </p:grpSpPr>
        <p:sp>
          <p:nvSpPr>
            <p:cNvPr id="48" name="object 48"/>
            <p:cNvSpPr/>
            <p:nvPr/>
          </p:nvSpPr>
          <p:spPr>
            <a:xfrm>
              <a:off x="3886199" y="3200402"/>
              <a:ext cx="1508760" cy="594360"/>
            </a:xfrm>
            <a:custGeom>
              <a:avLst/>
              <a:gdLst/>
              <a:ahLst/>
              <a:cxnLst/>
              <a:rect l="l" t="t" r="r" b="b"/>
              <a:pathLst>
                <a:path w="1508760" h="594360">
                  <a:moveTo>
                    <a:pt x="1508404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754202" y="594004"/>
                  </a:lnTo>
                  <a:lnTo>
                    <a:pt x="1508404" y="594004"/>
                  </a:lnTo>
                  <a:lnTo>
                    <a:pt x="1508404" y="0"/>
                  </a:lnTo>
                  <a:close/>
                </a:path>
              </a:pathLst>
            </a:custGeom>
            <a:solidFill>
              <a:srgbClr val="10101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86199" y="3200402"/>
              <a:ext cx="1508760" cy="594360"/>
            </a:xfrm>
            <a:custGeom>
              <a:avLst/>
              <a:gdLst/>
              <a:ahLst/>
              <a:cxnLst/>
              <a:rect l="l" t="t" r="r" b="b"/>
              <a:pathLst>
                <a:path w="1508760" h="594360">
                  <a:moveTo>
                    <a:pt x="754202" y="594004"/>
                  </a:moveTo>
                  <a:lnTo>
                    <a:pt x="0" y="594004"/>
                  </a:lnTo>
                  <a:lnTo>
                    <a:pt x="0" y="0"/>
                  </a:lnTo>
                  <a:lnTo>
                    <a:pt x="1508404" y="0"/>
                  </a:lnTo>
                  <a:lnTo>
                    <a:pt x="1508404" y="594004"/>
                  </a:lnTo>
                  <a:lnTo>
                    <a:pt x="754202" y="594004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334293" y="3415946"/>
            <a:ext cx="6134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3A2B7"/>
                </a:solidFill>
                <a:latin typeface="Calibri"/>
                <a:cs typeface="Calibri"/>
              </a:rPr>
              <a:t>HTTP</a:t>
            </a:r>
            <a:r>
              <a:rPr sz="9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93A2B7"/>
                </a:solidFill>
                <a:latin typeface="Calibri"/>
                <a:cs typeface="Calibri"/>
              </a:rPr>
              <a:t>/status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897543" y="4801224"/>
            <a:ext cx="33496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Flechas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sólidas: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flujo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principal</a:t>
            </a:r>
            <a:r>
              <a:rPr sz="900" spc="37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|</a:t>
            </a:r>
            <a:r>
              <a:rPr sz="900" spc="36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Nodos</a:t>
            </a:r>
            <a:r>
              <a:rPr sz="9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punteados: </a:t>
            </a:r>
            <a:r>
              <a:rPr sz="900" dirty="0">
                <a:solidFill>
                  <a:srgbClr val="465468"/>
                </a:solidFill>
                <a:latin typeface="Calibri"/>
                <a:cs typeface="Calibri"/>
              </a:rPr>
              <a:t>servicios</a:t>
            </a:r>
            <a:r>
              <a:rPr sz="9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465468"/>
                </a:solidFill>
                <a:latin typeface="Calibri"/>
                <a:cs typeface="Calibri"/>
              </a:rPr>
              <a:t>auxiliares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Hardware</a:t>
            </a:r>
            <a:r>
              <a:rPr spc="-145" dirty="0"/>
              <a:t> </a:t>
            </a:r>
            <a:r>
              <a:rPr spc="-10" dirty="0"/>
              <a:t>utilizado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5404" y="822962"/>
            <a:ext cx="5394960" cy="1097280"/>
            <a:chOff x="365404" y="822962"/>
            <a:chExt cx="5394960" cy="1097280"/>
          </a:xfrm>
        </p:grpSpPr>
        <p:sp>
          <p:nvSpPr>
            <p:cNvPr id="7" name="object 7"/>
            <p:cNvSpPr/>
            <p:nvPr/>
          </p:nvSpPr>
          <p:spPr>
            <a:xfrm>
              <a:off x="365404" y="822962"/>
              <a:ext cx="5394960" cy="411480"/>
            </a:xfrm>
            <a:custGeom>
              <a:avLst/>
              <a:gdLst/>
              <a:ahLst/>
              <a:cxnLst/>
              <a:rect l="l" t="t" r="r" b="b"/>
              <a:pathLst>
                <a:path w="5394960" h="411480">
                  <a:moveTo>
                    <a:pt x="5394591" y="0"/>
                  </a:moveTo>
                  <a:lnTo>
                    <a:pt x="0" y="0"/>
                  </a:lnTo>
                  <a:lnTo>
                    <a:pt x="0" y="411124"/>
                  </a:lnTo>
                  <a:lnTo>
                    <a:pt x="2697480" y="411124"/>
                  </a:lnTo>
                  <a:lnTo>
                    <a:pt x="5394591" y="411124"/>
                  </a:lnTo>
                  <a:lnTo>
                    <a:pt x="5394591" y="0"/>
                  </a:lnTo>
                  <a:close/>
                </a:path>
              </a:pathLst>
            </a:custGeom>
            <a:solidFill>
              <a:srgbClr val="0E33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1234442"/>
              <a:ext cx="5394960" cy="685800"/>
            </a:xfrm>
            <a:custGeom>
              <a:avLst/>
              <a:gdLst/>
              <a:ahLst/>
              <a:cxnLst/>
              <a:rect l="l" t="t" r="r" b="b"/>
              <a:pathLst>
                <a:path w="5394960" h="685800">
                  <a:moveTo>
                    <a:pt x="5394591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2697480" y="685444"/>
                  </a:lnTo>
                  <a:lnTo>
                    <a:pt x="5394591" y="685444"/>
                  </a:lnTo>
                  <a:lnTo>
                    <a:pt x="5394591" y="0"/>
                  </a:lnTo>
                  <a:close/>
                </a:path>
              </a:pathLst>
            </a:custGeom>
            <a:solidFill>
              <a:srgbClr val="0C1E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99" y="1398602"/>
              <a:ext cx="328675" cy="32867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365404" y="1965961"/>
            <a:ext cx="5394960" cy="685800"/>
          </a:xfrm>
          <a:custGeom>
            <a:avLst/>
            <a:gdLst/>
            <a:ahLst/>
            <a:cxnLst/>
            <a:rect l="l" t="t" r="r" b="b"/>
            <a:pathLst>
              <a:path w="5394960" h="685800">
                <a:moveTo>
                  <a:pt x="5394591" y="0"/>
                </a:moveTo>
                <a:lnTo>
                  <a:pt x="0" y="0"/>
                </a:lnTo>
                <a:lnTo>
                  <a:pt x="0" y="685444"/>
                </a:lnTo>
                <a:lnTo>
                  <a:pt x="2697480" y="685444"/>
                </a:lnTo>
                <a:lnTo>
                  <a:pt x="5394591" y="685444"/>
                </a:lnTo>
                <a:lnTo>
                  <a:pt x="5394591" y="0"/>
                </a:lnTo>
                <a:close/>
              </a:path>
            </a:pathLst>
          </a:custGeom>
          <a:solidFill>
            <a:srgbClr val="0915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130122"/>
            <a:ext cx="328675" cy="32867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65404" y="2697482"/>
            <a:ext cx="5394960" cy="685800"/>
          </a:xfrm>
          <a:custGeom>
            <a:avLst/>
            <a:gdLst/>
            <a:ahLst/>
            <a:cxnLst/>
            <a:rect l="l" t="t" r="r" b="b"/>
            <a:pathLst>
              <a:path w="5394960" h="685800">
                <a:moveTo>
                  <a:pt x="5394591" y="0"/>
                </a:moveTo>
                <a:lnTo>
                  <a:pt x="0" y="0"/>
                </a:lnTo>
                <a:lnTo>
                  <a:pt x="0" y="685444"/>
                </a:lnTo>
                <a:lnTo>
                  <a:pt x="2697480" y="685444"/>
                </a:lnTo>
                <a:lnTo>
                  <a:pt x="5394591" y="685444"/>
                </a:lnTo>
                <a:lnTo>
                  <a:pt x="5394591" y="0"/>
                </a:lnTo>
                <a:close/>
              </a:path>
            </a:pathLst>
          </a:custGeom>
          <a:solidFill>
            <a:srgbClr val="0C1E3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2861642"/>
            <a:ext cx="328675" cy="3286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65404" y="3429001"/>
            <a:ext cx="5394960" cy="685800"/>
            <a:chOff x="365404" y="3429001"/>
            <a:chExt cx="5394960" cy="685800"/>
          </a:xfrm>
        </p:grpSpPr>
        <p:sp>
          <p:nvSpPr>
            <p:cNvPr id="15" name="object 15"/>
            <p:cNvSpPr/>
            <p:nvPr/>
          </p:nvSpPr>
          <p:spPr>
            <a:xfrm>
              <a:off x="365404" y="3429001"/>
              <a:ext cx="5394960" cy="685800"/>
            </a:xfrm>
            <a:custGeom>
              <a:avLst/>
              <a:gdLst/>
              <a:ahLst/>
              <a:cxnLst/>
              <a:rect l="l" t="t" r="r" b="b"/>
              <a:pathLst>
                <a:path w="5394960" h="685800">
                  <a:moveTo>
                    <a:pt x="5394591" y="0"/>
                  </a:moveTo>
                  <a:lnTo>
                    <a:pt x="0" y="0"/>
                  </a:lnTo>
                  <a:lnTo>
                    <a:pt x="0" y="685444"/>
                  </a:lnTo>
                  <a:lnTo>
                    <a:pt x="2697480" y="685444"/>
                  </a:lnTo>
                  <a:lnTo>
                    <a:pt x="5394591" y="685444"/>
                  </a:lnTo>
                  <a:lnTo>
                    <a:pt x="5394591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9" y="3593162"/>
              <a:ext cx="328675" cy="328675"/>
            </a:xfrm>
            <a:prstGeom prst="rect">
              <a:avLst/>
            </a:prstGeom>
          </p:spPr>
        </p:pic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59104" y="816662"/>
          <a:ext cx="5483860" cy="3289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1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845">
                <a:tc>
                  <a:txBody>
                    <a:bodyPr/>
                    <a:lstStyle/>
                    <a:p>
                      <a:pPr marL="501015">
                        <a:lnSpc>
                          <a:spcPct val="100000"/>
                        </a:lnSpc>
                        <a:spcBef>
                          <a:spcPts val="955"/>
                        </a:spcBef>
                        <a:tabLst>
                          <a:tab pos="1644014" algn="l"/>
                        </a:tabLst>
                      </a:pP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Componente</a:t>
                      </a:r>
                      <a:r>
                        <a:rPr sz="1100" b="1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Función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0DA4E8"/>
                      </a:solidFill>
                      <a:prstDash val="solid"/>
                    </a:lnL>
                    <a:lnT w="12700">
                      <a:solidFill>
                        <a:srgbClr val="0DA4E8"/>
                      </a:solidFill>
                      <a:prstDash val="solid"/>
                    </a:lnT>
                    <a:lnB w="19050">
                      <a:solidFill>
                        <a:srgbClr val="465468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3726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Detalle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R w="12700">
                      <a:solidFill>
                        <a:srgbClr val="0DA4E8"/>
                      </a:solidFill>
                      <a:prstDash val="solid"/>
                    </a:lnR>
                    <a:lnT w="12700">
                      <a:solidFill>
                        <a:srgbClr val="0DA4E8"/>
                      </a:solidFill>
                      <a:prstDash val="solid"/>
                    </a:lnT>
                    <a:lnB w="19050">
                      <a:solidFill>
                        <a:srgbClr val="46546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2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ESP32 </a:t>
                      </a:r>
                      <a:r>
                        <a:rPr sz="1100" b="1" spc="-2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WROOM-</a:t>
                      </a:r>
                      <a:r>
                        <a:rPr sz="1100" b="1" spc="-25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465468"/>
                      </a:solidFill>
                      <a:prstDash val="solid"/>
                    </a:lnL>
                    <a:lnT w="1905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Microcontrolador</a:t>
                      </a:r>
                      <a:r>
                        <a:rPr sz="1000" spc="-5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WiFi+BLE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T w="1905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0650" marR="381635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Dual-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core</a:t>
                      </a:r>
                      <a:r>
                        <a:rPr sz="950" spc="-1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240MHz, 520KB</a:t>
                      </a:r>
                      <a:r>
                        <a:rPr sz="950" spc="-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RAM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R w="12700">
                      <a:solidFill>
                        <a:srgbClr val="465468"/>
                      </a:solidFill>
                      <a:prstDash val="solid"/>
                    </a:lnR>
                    <a:lnT w="1905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2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35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KY-</a:t>
                      </a:r>
                      <a:r>
                        <a:rPr sz="1100" b="1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023 ×</a:t>
                      </a:r>
                      <a:r>
                        <a:rPr sz="1100" b="1" spc="-1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5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65468"/>
                      </a:solidFill>
                      <a:prstDash val="solid"/>
                    </a:lnL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Joystick</a:t>
                      </a:r>
                      <a:r>
                        <a:rPr sz="1000" spc="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analógico</a:t>
                      </a:r>
                      <a:r>
                        <a:rPr sz="1000" spc="2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(Sensor)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Ejes</a:t>
                      </a:r>
                      <a:r>
                        <a:rPr sz="950" spc="-2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X/Y</a:t>
                      </a:r>
                      <a:r>
                        <a:rPr sz="950" spc="-2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950" spc="-2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botón</a:t>
                      </a:r>
                      <a:r>
                        <a:rPr sz="950" spc="-2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12700">
                      <a:solidFill>
                        <a:srgbClr val="465468"/>
                      </a:solidFill>
                      <a:prstDash val="solid"/>
                    </a:lnR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2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Protoboard</a:t>
                      </a:r>
                      <a:r>
                        <a:rPr sz="1100" b="1" spc="1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100" b="1" spc="2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Cables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65468"/>
                      </a:solidFill>
                      <a:prstDash val="solid"/>
                    </a:lnL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Conexiones</a:t>
                      </a:r>
                      <a:r>
                        <a:rPr sz="1000" spc="-5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y </a:t>
                      </a:r>
                      <a:r>
                        <a:rPr sz="1000" spc="-1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prototipado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Jumpers</a:t>
                      </a:r>
                      <a:r>
                        <a:rPr sz="950" spc="1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macho-</a:t>
                      </a:r>
                      <a:r>
                        <a:rPr sz="950" spc="-2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macho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12700">
                      <a:solidFill>
                        <a:srgbClr val="465468"/>
                      </a:solidFill>
                      <a:prstDash val="solid"/>
                    </a:lnR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924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solidFill>
                            <a:srgbClr val="EFF8FF"/>
                          </a:solidFill>
                          <a:latin typeface="Calibri"/>
                          <a:cs typeface="Calibri"/>
                        </a:rPr>
                        <a:t>Alimentación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465468"/>
                      </a:solidFill>
                      <a:prstDash val="solid"/>
                    </a:lnL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3.3V</a:t>
                      </a:r>
                      <a:r>
                        <a:rPr sz="1000" spc="-35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via</a:t>
                      </a:r>
                      <a:r>
                        <a:rPr sz="1000" spc="-2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USB</a:t>
                      </a:r>
                      <a:r>
                        <a:rPr sz="1000" spc="-25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sz="1000" spc="-15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solidFill>
                            <a:srgbClr val="93A2B7"/>
                          </a:solidFill>
                          <a:latin typeface="Calibri"/>
                          <a:cs typeface="Calibri"/>
                        </a:rPr>
                        <a:t>PC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GPIOs:</a:t>
                      </a:r>
                      <a:r>
                        <a:rPr sz="950" spc="-4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34,</a:t>
                      </a:r>
                      <a:r>
                        <a:rPr sz="950" spc="-3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35,</a:t>
                      </a:r>
                      <a:r>
                        <a:rPr sz="950" spc="-3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32,</a:t>
                      </a:r>
                      <a:r>
                        <a:rPr sz="950" spc="-40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33,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20650">
                        <a:lnSpc>
                          <a:spcPct val="100000"/>
                        </a:lnSpc>
                      </a:pPr>
                      <a:r>
                        <a:rPr sz="950" spc="-25" dirty="0">
                          <a:solidFill>
                            <a:srgbClr val="465468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R w="12700">
                      <a:solidFill>
                        <a:srgbClr val="465468"/>
                      </a:solidFill>
                      <a:prstDash val="solid"/>
                    </a:lnR>
                    <a:lnT w="1270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6034684" y="822606"/>
            <a:ext cx="2743200" cy="2926080"/>
          </a:xfrm>
          <a:custGeom>
            <a:avLst/>
            <a:gdLst/>
            <a:ahLst/>
            <a:cxnLst/>
            <a:rect l="l" t="t" r="r" b="b"/>
            <a:pathLst>
              <a:path w="2743200" h="2926079">
                <a:moveTo>
                  <a:pt x="2742831" y="0"/>
                </a:moveTo>
                <a:lnTo>
                  <a:pt x="0" y="0"/>
                </a:lnTo>
                <a:lnTo>
                  <a:pt x="0" y="2925711"/>
                </a:lnTo>
                <a:lnTo>
                  <a:pt x="1371600" y="2925711"/>
                </a:lnTo>
                <a:lnTo>
                  <a:pt x="2742831" y="2925711"/>
                </a:lnTo>
                <a:lnTo>
                  <a:pt x="2742831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34684" y="822606"/>
            <a:ext cx="2743200" cy="292608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00">
              <a:latin typeface="Times New Roman"/>
              <a:cs typeface="Times New Roman"/>
            </a:endParaRPr>
          </a:p>
          <a:p>
            <a:pPr marL="676275">
              <a:lnSpc>
                <a:spcPct val="100000"/>
              </a:lnSpc>
            </a:pPr>
            <a:r>
              <a:rPr sz="1000" dirty="0">
                <a:solidFill>
                  <a:srgbClr val="465468"/>
                </a:solidFill>
                <a:latin typeface="Calibri"/>
                <a:cs typeface="Calibri"/>
              </a:rPr>
              <a:t>[</a:t>
            </a:r>
            <a:r>
              <a:rPr sz="1000" spc="-3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8"/>
                </a:solidFill>
                <a:latin typeface="Calibri"/>
                <a:cs typeface="Calibri"/>
              </a:rPr>
              <a:t>Foto</a:t>
            </a:r>
            <a:r>
              <a:rPr sz="10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8"/>
                </a:solidFill>
                <a:latin typeface="Calibri"/>
                <a:cs typeface="Calibri"/>
              </a:rPr>
              <a:t>del</a:t>
            </a:r>
            <a:r>
              <a:rPr sz="10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5468"/>
                </a:solidFill>
                <a:latin typeface="Calibri"/>
                <a:cs typeface="Calibri"/>
              </a:rPr>
              <a:t>circuito</a:t>
            </a:r>
            <a:r>
              <a:rPr sz="10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465468"/>
                </a:solidFill>
                <a:latin typeface="Calibri"/>
                <a:cs typeface="Calibri"/>
              </a:rPr>
              <a:t>armado</a:t>
            </a:r>
            <a:r>
              <a:rPr sz="10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solidFill>
                  <a:srgbClr val="465468"/>
                </a:solidFill>
                <a:latin typeface="Calibri"/>
                <a:cs typeface="Calibri"/>
              </a:rPr>
              <a:t>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404" y="4316046"/>
            <a:ext cx="8412480" cy="411480"/>
          </a:xfrm>
          <a:custGeom>
            <a:avLst/>
            <a:gdLst/>
            <a:ahLst/>
            <a:cxnLst/>
            <a:rect l="l" t="t" r="r" b="b"/>
            <a:pathLst>
              <a:path w="8412480" h="411479">
                <a:moveTo>
                  <a:pt x="8412111" y="0"/>
                </a:moveTo>
                <a:lnTo>
                  <a:pt x="0" y="0"/>
                </a:lnTo>
                <a:lnTo>
                  <a:pt x="0" y="411111"/>
                </a:lnTo>
                <a:lnTo>
                  <a:pt x="4206240" y="411111"/>
                </a:lnTo>
                <a:lnTo>
                  <a:pt x="8412111" y="411111"/>
                </a:lnTo>
                <a:lnTo>
                  <a:pt x="8412111" y="0"/>
                </a:lnTo>
                <a:close/>
              </a:path>
            </a:pathLst>
          </a:custGeom>
          <a:solidFill>
            <a:srgbClr val="0C1E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5404" y="4316046"/>
            <a:ext cx="8412480" cy="411480"/>
          </a:xfrm>
          <a:prstGeom prst="rect">
            <a:avLst/>
          </a:prstGeom>
          <a:ln w="12599">
            <a:solidFill>
              <a:srgbClr val="3A81F5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015"/>
              </a:spcBef>
            </a:pPr>
            <a:r>
              <a:rPr sz="1000" spc="-10" dirty="0">
                <a:solidFill>
                  <a:srgbClr val="F49D0A"/>
                </a:solidFill>
                <a:latin typeface="Calibri"/>
                <a:cs typeface="Calibri"/>
              </a:rPr>
              <a:t>Alimentación</a:t>
            </a:r>
            <a:r>
              <a:rPr sz="1000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3.3V</a:t>
            </a:r>
            <a:r>
              <a:rPr sz="1000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—</a:t>
            </a:r>
            <a:r>
              <a:rPr sz="1000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GPIOs:</a:t>
            </a:r>
            <a:r>
              <a:rPr sz="1000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34</a:t>
            </a:r>
            <a:r>
              <a:rPr sz="1000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(VRX1),</a:t>
            </a:r>
            <a:r>
              <a:rPr sz="1000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35</a:t>
            </a:r>
            <a:r>
              <a:rPr sz="1000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49D0A"/>
                </a:solidFill>
                <a:latin typeface="Calibri"/>
                <a:cs typeface="Calibri"/>
              </a:rPr>
              <a:t>(VRY1),</a:t>
            </a:r>
            <a:r>
              <a:rPr sz="1000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32</a:t>
            </a:r>
            <a:r>
              <a:rPr sz="1000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(VRX2),</a:t>
            </a:r>
            <a:r>
              <a:rPr sz="1000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33</a:t>
            </a:r>
            <a:r>
              <a:rPr sz="1000" spc="-3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(VRY2),</a:t>
            </a:r>
            <a:r>
              <a:rPr sz="1000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49D0A"/>
                </a:solidFill>
                <a:latin typeface="Calibri"/>
                <a:cs typeface="Calibri"/>
              </a:rPr>
              <a:t>25</a:t>
            </a:r>
            <a:r>
              <a:rPr sz="1000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F49D0A"/>
                </a:solidFill>
                <a:latin typeface="Calibri"/>
                <a:cs typeface="Calibri"/>
              </a:rPr>
              <a:t>(BTN)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Comunicación</a:t>
            </a:r>
            <a:r>
              <a:rPr spc="-135" dirty="0"/>
              <a:t> </a:t>
            </a:r>
            <a:r>
              <a:rPr spc="-20" dirty="0"/>
              <a:t>MQTT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5759" y="841326"/>
            <a:ext cx="8275320" cy="1097280"/>
            <a:chOff x="365759" y="841326"/>
            <a:chExt cx="8275320" cy="1097280"/>
          </a:xfrm>
        </p:grpSpPr>
        <p:sp>
          <p:nvSpPr>
            <p:cNvPr id="7" name="object 7"/>
            <p:cNvSpPr/>
            <p:nvPr/>
          </p:nvSpPr>
          <p:spPr>
            <a:xfrm>
              <a:off x="365759" y="841326"/>
              <a:ext cx="8275320" cy="384175"/>
            </a:xfrm>
            <a:custGeom>
              <a:avLst/>
              <a:gdLst/>
              <a:ahLst/>
              <a:cxnLst/>
              <a:rect l="l" t="t" r="r" b="b"/>
              <a:pathLst>
                <a:path w="8275320" h="384175">
                  <a:moveTo>
                    <a:pt x="8274964" y="0"/>
                  </a:moveTo>
                  <a:lnTo>
                    <a:pt x="0" y="0"/>
                  </a:lnTo>
                  <a:lnTo>
                    <a:pt x="0" y="383755"/>
                  </a:lnTo>
                  <a:lnTo>
                    <a:pt x="4137482" y="383755"/>
                  </a:lnTo>
                  <a:lnTo>
                    <a:pt x="8274964" y="383755"/>
                  </a:lnTo>
                  <a:lnTo>
                    <a:pt x="8274964" y="0"/>
                  </a:lnTo>
                  <a:close/>
                </a:path>
              </a:pathLst>
            </a:custGeom>
            <a:solidFill>
              <a:srgbClr val="0E33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59" y="1225437"/>
              <a:ext cx="8275320" cy="713105"/>
            </a:xfrm>
            <a:custGeom>
              <a:avLst/>
              <a:gdLst/>
              <a:ahLst/>
              <a:cxnLst/>
              <a:rect l="l" t="t" r="r" b="b"/>
              <a:pathLst>
                <a:path w="8275320" h="713105">
                  <a:moveTo>
                    <a:pt x="8274964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4137482" y="712800"/>
                  </a:lnTo>
                  <a:lnTo>
                    <a:pt x="8274964" y="712800"/>
                  </a:lnTo>
                  <a:lnTo>
                    <a:pt x="8274964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759" y="1225437"/>
              <a:ext cx="109855" cy="713105"/>
            </a:xfrm>
            <a:custGeom>
              <a:avLst/>
              <a:gdLst/>
              <a:ahLst/>
              <a:cxnLst/>
              <a:rect l="l" t="t" r="r" b="b"/>
              <a:pathLst>
                <a:path w="109854" h="713105">
                  <a:moveTo>
                    <a:pt x="109435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54724" y="712800"/>
                  </a:lnTo>
                  <a:lnTo>
                    <a:pt x="109435" y="712800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5B5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5684" y="1425958"/>
              <a:ext cx="1005840" cy="311150"/>
            </a:xfrm>
            <a:custGeom>
              <a:avLst/>
              <a:gdLst/>
              <a:ahLst/>
              <a:cxnLst/>
              <a:rect l="l" t="t" r="r" b="b"/>
              <a:pathLst>
                <a:path w="1005839" h="311150">
                  <a:moveTo>
                    <a:pt x="1005471" y="0"/>
                  </a:moveTo>
                  <a:lnTo>
                    <a:pt x="0" y="0"/>
                  </a:lnTo>
                  <a:lnTo>
                    <a:pt x="0" y="310680"/>
                  </a:lnTo>
                  <a:lnTo>
                    <a:pt x="502919" y="310680"/>
                  </a:lnTo>
                  <a:lnTo>
                    <a:pt x="1005471" y="310680"/>
                  </a:lnTo>
                  <a:lnTo>
                    <a:pt x="1005471" y="0"/>
                  </a:lnTo>
                  <a:close/>
                </a:path>
              </a:pathLst>
            </a:custGeom>
            <a:solidFill>
              <a:srgbClr val="141F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05684" y="1425958"/>
              <a:ext cx="1005840" cy="311150"/>
            </a:xfrm>
            <a:custGeom>
              <a:avLst/>
              <a:gdLst/>
              <a:ahLst/>
              <a:cxnLst/>
              <a:rect l="l" t="t" r="r" b="b"/>
              <a:pathLst>
                <a:path w="1005839" h="311150">
                  <a:moveTo>
                    <a:pt x="502919" y="310680"/>
                  </a:moveTo>
                  <a:lnTo>
                    <a:pt x="0" y="310680"/>
                  </a:lnTo>
                  <a:lnTo>
                    <a:pt x="0" y="0"/>
                  </a:lnTo>
                  <a:lnTo>
                    <a:pt x="1005471" y="0"/>
                  </a:lnTo>
                  <a:lnTo>
                    <a:pt x="1005471" y="310680"/>
                  </a:lnTo>
                  <a:lnTo>
                    <a:pt x="502919" y="31068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9460" y="835026"/>
          <a:ext cx="836422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540"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Tópico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0DA4E8"/>
                      </a:solidFill>
                      <a:prstDash val="solid"/>
                    </a:lnL>
                    <a:lnT w="12700">
                      <a:solidFill>
                        <a:srgbClr val="0DA4E8"/>
                      </a:solidFill>
                      <a:prstDash val="solid"/>
                    </a:lnT>
                    <a:lnB w="19050">
                      <a:solidFill>
                        <a:srgbClr val="46546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Acción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T w="12700">
                      <a:solidFill>
                        <a:srgbClr val="0DA4E8"/>
                      </a:solidFill>
                      <a:prstDash val="solid"/>
                    </a:lnT>
                    <a:lnB w="1905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Payload</a:t>
                      </a:r>
                      <a:r>
                        <a:rPr sz="1100" b="1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(ejemplo)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R w="12700">
                      <a:solidFill>
                        <a:srgbClr val="0DA4E8"/>
                      </a:solidFill>
                      <a:prstDash val="solid"/>
                    </a:lnR>
                    <a:lnT w="12700">
                      <a:solidFill>
                        <a:srgbClr val="0DA4E8"/>
                      </a:solidFill>
                      <a:prstDash val="solid"/>
                    </a:lnT>
                    <a:lnB w="19050">
                      <a:solidFill>
                        <a:srgbClr val="46546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5B5D3"/>
                      </a:solidFill>
                      <a:prstDash val="solid"/>
                    </a:lnL>
                    <a:lnR w="12700">
                      <a:solidFill>
                        <a:srgbClr val="05B5D3"/>
                      </a:solidFill>
                      <a:prstDash val="solid"/>
                    </a:lnR>
                    <a:lnT w="19050" cap="flat" cmpd="sng" algn="ctr">
                      <a:solidFill>
                        <a:srgbClr val="4654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5B5D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00F4D3"/>
                          </a:solidFill>
                          <a:latin typeface="Courier New"/>
                          <a:cs typeface="Courier New"/>
                        </a:rPr>
                        <a:t>smartjoy/mouse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05B5D3"/>
                      </a:solidFill>
                      <a:prstDash val="solid"/>
                    </a:lnL>
                    <a:lnT w="1905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661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spc="-10" dirty="0">
                          <a:solidFill>
                            <a:srgbClr val="0DA4E8"/>
                          </a:solidFill>
                          <a:latin typeface="Calibri"/>
                          <a:cs typeface="Calibri"/>
                        </a:rPr>
                        <a:t>Publica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T w="1905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73050">
                        <a:lnSpc>
                          <a:spcPct val="100000"/>
                        </a:lnSpc>
                      </a:pPr>
                      <a:r>
                        <a:rPr sz="900" spc="-10" dirty="0">
                          <a:solidFill>
                            <a:srgbClr val="93A2B7"/>
                          </a:solidFill>
                          <a:latin typeface="Courier New"/>
                          <a:cs typeface="Courier New"/>
                        </a:rPr>
                        <a:t>{"vx":5,"vy":-3,"ts":"2026-01-01T00:00:00"}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2700">
                      <a:solidFill>
                        <a:srgbClr val="465468"/>
                      </a:solidFill>
                      <a:prstDash val="solid"/>
                    </a:lnR>
                    <a:lnT w="19050">
                      <a:solidFill>
                        <a:srgbClr val="465468"/>
                      </a:solidFill>
                      <a:prstDash val="solid"/>
                    </a:lnT>
                    <a:lnB w="12700">
                      <a:solidFill>
                        <a:srgbClr val="46546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359409" y="1996327"/>
            <a:ext cx="8288020" cy="725805"/>
            <a:chOff x="359409" y="1996327"/>
            <a:chExt cx="8288020" cy="725805"/>
          </a:xfrm>
        </p:grpSpPr>
        <p:sp>
          <p:nvSpPr>
            <p:cNvPr id="14" name="object 14"/>
            <p:cNvSpPr/>
            <p:nvPr/>
          </p:nvSpPr>
          <p:spPr>
            <a:xfrm>
              <a:off x="365759" y="2002677"/>
              <a:ext cx="8275320" cy="713105"/>
            </a:xfrm>
            <a:custGeom>
              <a:avLst/>
              <a:gdLst/>
              <a:ahLst/>
              <a:cxnLst/>
              <a:rect l="l" t="t" r="r" b="b"/>
              <a:pathLst>
                <a:path w="8275320" h="713105">
                  <a:moveTo>
                    <a:pt x="8274964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4137482" y="712800"/>
                  </a:lnTo>
                  <a:lnTo>
                    <a:pt x="8274964" y="712800"/>
                  </a:lnTo>
                  <a:lnTo>
                    <a:pt x="8274964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59" y="2002677"/>
              <a:ext cx="8275320" cy="713105"/>
            </a:xfrm>
            <a:custGeom>
              <a:avLst/>
              <a:gdLst/>
              <a:ahLst/>
              <a:cxnLst/>
              <a:rect l="l" t="t" r="r" b="b"/>
              <a:pathLst>
                <a:path w="8275320" h="713105">
                  <a:moveTo>
                    <a:pt x="4137482" y="712800"/>
                  </a:moveTo>
                  <a:lnTo>
                    <a:pt x="0" y="712800"/>
                  </a:lnTo>
                  <a:lnTo>
                    <a:pt x="0" y="0"/>
                  </a:lnTo>
                  <a:lnTo>
                    <a:pt x="8274964" y="0"/>
                  </a:lnTo>
                  <a:lnTo>
                    <a:pt x="8274964" y="712800"/>
                  </a:lnTo>
                  <a:lnTo>
                    <a:pt x="4137482" y="712800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59" y="2002677"/>
              <a:ext cx="109855" cy="713105"/>
            </a:xfrm>
            <a:custGeom>
              <a:avLst/>
              <a:gdLst/>
              <a:ahLst/>
              <a:cxnLst/>
              <a:rect l="l" t="t" r="r" b="b"/>
              <a:pathLst>
                <a:path w="109854" h="713105">
                  <a:moveTo>
                    <a:pt x="109435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54724" y="712800"/>
                  </a:lnTo>
                  <a:lnTo>
                    <a:pt x="109435" y="712800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5B5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59" y="2002677"/>
              <a:ext cx="109855" cy="713105"/>
            </a:xfrm>
            <a:custGeom>
              <a:avLst/>
              <a:gdLst/>
              <a:ahLst/>
              <a:cxnLst/>
              <a:rect l="l" t="t" r="r" b="b"/>
              <a:pathLst>
                <a:path w="109854" h="713105">
                  <a:moveTo>
                    <a:pt x="54724" y="712800"/>
                  </a:moveTo>
                  <a:lnTo>
                    <a:pt x="0" y="712800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712800"/>
                  </a:lnTo>
                  <a:lnTo>
                    <a:pt x="54724" y="712800"/>
                  </a:lnTo>
                  <a:close/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5944" y="2262507"/>
            <a:ext cx="11207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F4D3"/>
                </a:solidFill>
                <a:latin typeface="Courier New"/>
                <a:cs typeface="Courier New"/>
              </a:rPr>
              <a:t>smartjoy/keys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05684" y="2203198"/>
            <a:ext cx="1005840" cy="311150"/>
          </a:xfrm>
          <a:custGeom>
            <a:avLst/>
            <a:gdLst/>
            <a:ahLst/>
            <a:cxnLst/>
            <a:rect l="l" t="t" r="r" b="b"/>
            <a:pathLst>
              <a:path w="1005839" h="311150">
                <a:moveTo>
                  <a:pt x="1005471" y="0"/>
                </a:moveTo>
                <a:lnTo>
                  <a:pt x="0" y="0"/>
                </a:lnTo>
                <a:lnTo>
                  <a:pt x="0" y="310680"/>
                </a:lnTo>
                <a:lnTo>
                  <a:pt x="502919" y="310680"/>
                </a:lnTo>
                <a:lnTo>
                  <a:pt x="1005471" y="310680"/>
                </a:lnTo>
                <a:lnTo>
                  <a:pt x="1005471" y="0"/>
                </a:lnTo>
                <a:close/>
              </a:path>
            </a:pathLst>
          </a:custGeom>
          <a:solidFill>
            <a:srgbClr val="141F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605684" y="2203198"/>
            <a:ext cx="1005840" cy="311150"/>
          </a:xfrm>
          <a:prstGeom prst="rect">
            <a:avLst/>
          </a:prstGeom>
          <a:ln w="12599">
            <a:solidFill>
              <a:srgbClr val="3A81F5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625"/>
              </a:spcBef>
            </a:pPr>
            <a:r>
              <a:rPr sz="1000" spc="-10" dirty="0">
                <a:solidFill>
                  <a:srgbClr val="0DA4E8"/>
                </a:solidFill>
                <a:latin typeface="Calibri"/>
                <a:cs typeface="Calibri"/>
              </a:rPr>
              <a:t>Publica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26344" y="2277619"/>
            <a:ext cx="31940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3A2B7"/>
                </a:solidFill>
                <a:latin typeface="Courier New"/>
                <a:cs typeface="Courier New"/>
              </a:rPr>
              <a:t>{"key":"w","btn":0,"ts":"2026-</a:t>
            </a:r>
            <a:r>
              <a:rPr sz="900" dirty="0">
                <a:solidFill>
                  <a:srgbClr val="93A2B7"/>
                </a:solidFill>
                <a:latin typeface="Courier New"/>
                <a:cs typeface="Courier New"/>
              </a:rPr>
              <a:t>01-</a:t>
            </a:r>
            <a:r>
              <a:rPr sz="900" spc="-10" dirty="0">
                <a:solidFill>
                  <a:srgbClr val="93A2B7"/>
                </a:solidFill>
                <a:latin typeface="Courier New"/>
                <a:cs typeface="Courier New"/>
              </a:rPr>
              <a:t>01T00:00:00"}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9409" y="2773567"/>
            <a:ext cx="8288020" cy="725805"/>
            <a:chOff x="359409" y="2773567"/>
            <a:chExt cx="8288020" cy="725805"/>
          </a:xfrm>
        </p:grpSpPr>
        <p:sp>
          <p:nvSpPr>
            <p:cNvPr id="23" name="object 23"/>
            <p:cNvSpPr/>
            <p:nvPr/>
          </p:nvSpPr>
          <p:spPr>
            <a:xfrm>
              <a:off x="365759" y="2779917"/>
              <a:ext cx="8275320" cy="713105"/>
            </a:xfrm>
            <a:custGeom>
              <a:avLst/>
              <a:gdLst/>
              <a:ahLst/>
              <a:cxnLst/>
              <a:rect l="l" t="t" r="r" b="b"/>
              <a:pathLst>
                <a:path w="8275320" h="713104">
                  <a:moveTo>
                    <a:pt x="8274964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4137482" y="712800"/>
                  </a:lnTo>
                  <a:lnTo>
                    <a:pt x="8274964" y="712800"/>
                  </a:lnTo>
                  <a:lnTo>
                    <a:pt x="8274964" y="0"/>
                  </a:lnTo>
                  <a:close/>
                </a:path>
              </a:pathLst>
            </a:custGeom>
            <a:solidFill>
              <a:srgbClr val="0C1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759" y="2779917"/>
              <a:ext cx="8275320" cy="713105"/>
            </a:xfrm>
            <a:custGeom>
              <a:avLst/>
              <a:gdLst/>
              <a:ahLst/>
              <a:cxnLst/>
              <a:rect l="l" t="t" r="r" b="b"/>
              <a:pathLst>
                <a:path w="8275320" h="713104">
                  <a:moveTo>
                    <a:pt x="4137482" y="712800"/>
                  </a:moveTo>
                  <a:lnTo>
                    <a:pt x="0" y="712800"/>
                  </a:lnTo>
                  <a:lnTo>
                    <a:pt x="0" y="0"/>
                  </a:lnTo>
                  <a:lnTo>
                    <a:pt x="8274964" y="0"/>
                  </a:lnTo>
                  <a:lnTo>
                    <a:pt x="8274964" y="712800"/>
                  </a:lnTo>
                  <a:lnTo>
                    <a:pt x="4137482" y="712800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759" y="2779917"/>
              <a:ext cx="109855" cy="713105"/>
            </a:xfrm>
            <a:custGeom>
              <a:avLst/>
              <a:gdLst/>
              <a:ahLst/>
              <a:cxnLst/>
              <a:rect l="l" t="t" r="r" b="b"/>
              <a:pathLst>
                <a:path w="109854" h="713104">
                  <a:moveTo>
                    <a:pt x="109435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54724" y="712800"/>
                  </a:lnTo>
                  <a:lnTo>
                    <a:pt x="109435" y="712800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5B5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759" y="2779917"/>
              <a:ext cx="109855" cy="713105"/>
            </a:xfrm>
            <a:custGeom>
              <a:avLst/>
              <a:gdLst/>
              <a:ahLst/>
              <a:cxnLst/>
              <a:rect l="l" t="t" r="r" b="b"/>
              <a:pathLst>
                <a:path w="109854" h="713104">
                  <a:moveTo>
                    <a:pt x="54724" y="712800"/>
                  </a:moveTo>
                  <a:lnTo>
                    <a:pt x="0" y="712800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712800"/>
                  </a:lnTo>
                  <a:lnTo>
                    <a:pt x="54724" y="712800"/>
                  </a:lnTo>
                  <a:close/>
                </a:path>
              </a:pathLst>
            </a:custGeom>
            <a:ln w="12599">
              <a:solidFill>
                <a:srgbClr val="05B5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5944" y="3039747"/>
            <a:ext cx="1289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F4D3"/>
                </a:solidFill>
                <a:latin typeface="Courier New"/>
                <a:cs typeface="Courier New"/>
              </a:rPr>
              <a:t>smartjoy/status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605684" y="2980438"/>
            <a:ext cx="1005840" cy="311150"/>
          </a:xfrm>
          <a:custGeom>
            <a:avLst/>
            <a:gdLst/>
            <a:ahLst/>
            <a:cxnLst/>
            <a:rect l="l" t="t" r="r" b="b"/>
            <a:pathLst>
              <a:path w="1005839" h="311150">
                <a:moveTo>
                  <a:pt x="1005471" y="0"/>
                </a:moveTo>
                <a:lnTo>
                  <a:pt x="0" y="0"/>
                </a:lnTo>
                <a:lnTo>
                  <a:pt x="0" y="310680"/>
                </a:lnTo>
                <a:lnTo>
                  <a:pt x="502919" y="310680"/>
                </a:lnTo>
                <a:lnTo>
                  <a:pt x="1005471" y="310680"/>
                </a:lnTo>
                <a:lnTo>
                  <a:pt x="1005471" y="0"/>
                </a:lnTo>
                <a:close/>
              </a:path>
            </a:pathLst>
          </a:custGeom>
          <a:solidFill>
            <a:srgbClr val="141F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605684" y="2980438"/>
            <a:ext cx="1005840" cy="311150"/>
          </a:xfrm>
          <a:prstGeom prst="rect">
            <a:avLst/>
          </a:prstGeom>
          <a:ln w="12599">
            <a:solidFill>
              <a:srgbClr val="3A81F5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625"/>
              </a:spcBef>
            </a:pPr>
            <a:r>
              <a:rPr sz="1000" spc="-10" dirty="0">
                <a:solidFill>
                  <a:srgbClr val="0DA4E8"/>
                </a:solidFill>
                <a:latin typeface="Calibri"/>
                <a:cs typeface="Calibri"/>
              </a:rPr>
              <a:t>Publica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26344" y="3054859"/>
            <a:ext cx="22294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3A2B7"/>
                </a:solidFill>
                <a:latin typeface="Courier New"/>
                <a:cs typeface="Courier New"/>
              </a:rPr>
              <a:t>{"status":"online","uptime":120}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5759" y="3611526"/>
            <a:ext cx="8275320" cy="1097280"/>
          </a:xfrm>
          <a:custGeom>
            <a:avLst/>
            <a:gdLst/>
            <a:ahLst/>
            <a:cxnLst/>
            <a:rect l="l" t="t" r="r" b="b"/>
            <a:pathLst>
              <a:path w="8275320" h="1097279">
                <a:moveTo>
                  <a:pt x="8274964" y="0"/>
                </a:moveTo>
                <a:lnTo>
                  <a:pt x="0" y="0"/>
                </a:lnTo>
                <a:lnTo>
                  <a:pt x="0" y="1096911"/>
                </a:lnTo>
                <a:lnTo>
                  <a:pt x="4137482" y="1096911"/>
                </a:lnTo>
                <a:lnTo>
                  <a:pt x="8274964" y="1096911"/>
                </a:lnTo>
                <a:lnTo>
                  <a:pt x="8274964" y="0"/>
                </a:lnTo>
                <a:close/>
              </a:path>
            </a:pathLst>
          </a:custGeom>
          <a:solidFill>
            <a:srgbClr val="1017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65759" y="3611526"/>
            <a:ext cx="8275320" cy="109728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[</a:t>
            </a:r>
            <a:r>
              <a:rPr sz="11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Screenshot</a:t>
            </a:r>
            <a:r>
              <a:rPr sz="11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de</a:t>
            </a:r>
            <a:r>
              <a:rPr sz="11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HiveMQ</a:t>
            </a:r>
            <a:r>
              <a:rPr sz="11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Cloud</a:t>
            </a:r>
            <a:r>
              <a:rPr sz="11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con</a:t>
            </a:r>
            <a:r>
              <a:rPr sz="1100" spc="-20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mensajes</a:t>
            </a:r>
            <a:r>
              <a:rPr sz="1100" spc="-1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en</a:t>
            </a:r>
            <a:r>
              <a:rPr sz="11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tiempo</a:t>
            </a:r>
            <a:r>
              <a:rPr sz="11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65468"/>
                </a:solidFill>
                <a:latin typeface="Calibri"/>
                <a:cs typeface="Calibri"/>
              </a:rPr>
              <a:t>real</a:t>
            </a:r>
            <a:r>
              <a:rPr sz="1100" spc="-25" dirty="0">
                <a:solidFill>
                  <a:srgbClr val="465468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465468"/>
                </a:solidFill>
                <a:latin typeface="Calibri"/>
                <a:cs typeface="Calibri"/>
              </a:rPr>
              <a:t>]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Requisitos</a:t>
            </a:r>
            <a:r>
              <a:rPr spc="-105" dirty="0"/>
              <a:t> </a:t>
            </a:r>
            <a:r>
              <a:rPr dirty="0"/>
              <a:t>del</a:t>
            </a:r>
            <a:r>
              <a:rPr spc="-90" dirty="0"/>
              <a:t> </a:t>
            </a:r>
            <a:r>
              <a:rPr dirty="0"/>
              <a:t>curso</a:t>
            </a:r>
            <a:r>
              <a:rPr spc="-90" dirty="0"/>
              <a:t> </a:t>
            </a:r>
            <a:r>
              <a:rPr spc="-10" dirty="0"/>
              <a:t>cumplidos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054" y="834976"/>
            <a:ext cx="8333740" cy="396875"/>
            <a:chOff x="359054" y="834976"/>
            <a:chExt cx="8333740" cy="396875"/>
          </a:xfrm>
        </p:grpSpPr>
        <p:sp>
          <p:nvSpPr>
            <p:cNvPr id="7" name="object 7"/>
            <p:cNvSpPr/>
            <p:nvPr/>
          </p:nvSpPr>
          <p:spPr>
            <a:xfrm>
              <a:off x="365404" y="841326"/>
              <a:ext cx="8321040" cy="384175"/>
            </a:xfrm>
            <a:custGeom>
              <a:avLst/>
              <a:gdLst/>
              <a:ahLst/>
              <a:cxnLst/>
              <a:rect l="l" t="t" r="r" b="b"/>
              <a:pathLst>
                <a:path w="8321040" h="384175">
                  <a:moveTo>
                    <a:pt x="8320671" y="0"/>
                  </a:moveTo>
                  <a:lnTo>
                    <a:pt x="0" y="0"/>
                  </a:lnTo>
                  <a:lnTo>
                    <a:pt x="0" y="383755"/>
                  </a:lnTo>
                  <a:lnTo>
                    <a:pt x="4160520" y="383755"/>
                  </a:lnTo>
                  <a:lnTo>
                    <a:pt x="8320671" y="383755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E33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841326"/>
              <a:ext cx="8321040" cy="384175"/>
            </a:xfrm>
            <a:custGeom>
              <a:avLst/>
              <a:gdLst/>
              <a:ahLst/>
              <a:cxnLst/>
              <a:rect l="l" t="t" r="r" b="b"/>
              <a:pathLst>
                <a:path w="8321040" h="384175">
                  <a:moveTo>
                    <a:pt x="4160520" y="383755"/>
                  </a:moveTo>
                  <a:lnTo>
                    <a:pt x="0" y="383755"/>
                  </a:lnTo>
                  <a:lnTo>
                    <a:pt x="0" y="0"/>
                  </a:lnTo>
                  <a:lnTo>
                    <a:pt x="8320671" y="0"/>
                  </a:lnTo>
                  <a:lnTo>
                    <a:pt x="8320671" y="383755"/>
                  </a:lnTo>
                  <a:lnTo>
                    <a:pt x="4160520" y="383755"/>
                  </a:lnTo>
                  <a:close/>
                </a:path>
              </a:pathLst>
            </a:custGeom>
            <a:ln w="12599">
              <a:solidFill>
                <a:srgbClr val="0DA4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6876" y="936627"/>
            <a:ext cx="5568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DA4E8"/>
                </a:solidFill>
                <a:latin typeface="Calibri"/>
                <a:cs typeface="Calibri"/>
              </a:rPr>
              <a:t>Requisito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1636" y="936627"/>
            <a:ext cx="10071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DA4E8"/>
                </a:solidFill>
                <a:latin typeface="Calibri"/>
                <a:cs typeface="Calibri"/>
              </a:rPr>
              <a:t>Cómo</a:t>
            </a:r>
            <a:r>
              <a:rPr sz="1100" b="1" spc="-10" dirty="0">
                <a:solidFill>
                  <a:srgbClr val="0DA4E8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DA4E8"/>
                </a:solidFill>
                <a:latin typeface="Calibri"/>
                <a:cs typeface="Calibri"/>
              </a:rPr>
              <a:t>se</a:t>
            </a:r>
            <a:r>
              <a:rPr sz="1100" b="1" spc="-10" dirty="0">
                <a:solidFill>
                  <a:srgbClr val="0DA4E8"/>
                </a:solidFill>
                <a:latin typeface="Calibri"/>
                <a:cs typeface="Calibri"/>
              </a:rPr>
              <a:t> cumplió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9054" y="1219087"/>
            <a:ext cx="8333740" cy="789940"/>
            <a:chOff x="359054" y="1219087"/>
            <a:chExt cx="8333740" cy="789940"/>
          </a:xfrm>
        </p:grpSpPr>
        <p:sp>
          <p:nvSpPr>
            <p:cNvPr id="12" name="object 12"/>
            <p:cNvSpPr/>
            <p:nvPr/>
          </p:nvSpPr>
          <p:spPr>
            <a:xfrm>
              <a:off x="365404" y="1225437"/>
              <a:ext cx="8321040" cy="777240"/>
            </a:xfrm>
            <a:custGeom>
              <a:avLst/>
              <a:gdLst/>
              <a:ahLst/>
              <a:cxnLst/>
              <a:rect l="l" t="t" r="r" b="b"/>
              <a:pathLst>
                <a:path w="8321040" h="777239">
                  <a:moveTo>
                    <a:pt x="832067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4160520" y="776884"/>
                  </a:lnTo>
                  <a:lnTo>
                    <a:pt x="8320671" y="776884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C1E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5404" y="1225437"/>
              <a:ext cx="8321040" cy="777240"/>
            </a:xfrm>
            <a:custGeom>
              <a:avLst/>
              <a:gdLst/>
              <a:ahLst/>
              <a:cxnLst/>
              <a:rect l="l" t="t" r="r" b="b"/>
              <a:pathLst>
                <a:path w="8321040" h="777239">
                  <a:moveTo>
                    <a:pt x="4160520" y="776884"/>
                  </a:moveTo>
                  <a:lnTo>
                    <a:pt x="0" y="776884"/>
                  </a:lnTo>
                  <a:lnTo>
                    <a:pt x="0" y="0"/>
                  </a:lnTo>
                  <a:lnTo>
                    <a:pt x="8320671" y="0"/>
                  </a:lnTo>
                  <a:lnTo>
                    <a:pt x="8320671" y="776884"/>
                  </a:lnTo>
                  <a:lnTo>
                    <a:pt x="4160520" y="776884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835" y="1425957"/>
              <a:ext cx="319684" cy="31968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30960" y="1509740"/>
            <a:ext cx="1574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Broker</a:t>
            </a:r>
            <a:r>
              <a:rPr sz="1200" b="1" spc="-4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EFF8FF"/>
                </a:solidFill>
                <a:latin typeface="Calibri"/>
                <a:cs typeface="Calibri"/>
              </a:rPr>
              <a:t>MQTT</a:t>
            </a:r>
            <a:r>
              <a:rPr sz="1200" b="1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obligatorio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28540" y="1255142"/>
            <a:ext cx="31115" cy="716915"/>
            <a:chOff x="4428540" y="1255142"/>
            <a:chExt cx="31115" cy="716915"/>
          </a:xfrm>
        </p:grpSpPr>
        <p:sp>
          <p:nvSpPr>
            <p:cNvPr id="17" name="object 17"/>
            <p:cNvSpPr/>
            <p:nvPr/>
          </p:nvSpPr>
          <p:spPr>
            <a:xfrm>
              <a:off x="4434840" y="1261442"/>
              <a:ext cx="18415" cy="704215"/>
            </a:xfrm>
            <a:custGeom>
              <a:avLst/>
              <a:gdLst/>
              <a:ahLst/>
              <a:cxnLst/>
              <a:rect l="l" t="t" r="r" b="b"/>
              <a:pathLst>
                <a:path w="18414" h="704214">
                  <a:moveTo>
                    <a:pt x="17995" y="0"/>
                  </a:moveTo>
                  <a:lnTo>
                    <a:pt x="0" y="0"/>
                  </a:lnTo>
                  <a:lnTo>
                    <a:pt x="0" y="703795"/>
                  </a:lnTo>
                  <a:lnTo>
                    <a:pt x="9004" y="703795"/>
                  </a:lnTo>
                  <a:lnTo>
                    <a:pt x="17995" y="703795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34840" y="1261442"/>
              <a:ext cx="18415" cy="704215"/>
            </a:xfrm>
            <a:custGeom>
              <a:avLst/>
              <a:gdLst/>
              <a:ahLst/>
              <a:cxnLst/>
              <a:rect l="l" t="t" r="r" b="b"/>
              <a:pathLst>
                <a:path w="18414" h="704214">
                  <a:moveTo>
                    <a:pt x="9004" y="703795"/>
                  </a:moveTo>
                  <a:lnTo>
                    <a:pt x="0" y="703795"/>
                  </a:lnTo>
                  <a:lnTo>
                    <a:pt x="0" y="0"/>
                  </a:lnTo>
                  <a:lnTo>
                    <a:pt x="17995" y="0"/>
                  </a:lnTo>
                  <a:lnTo>
                    <a:pt x="17995" y="703795"/>
                  </a:lnTo>
                  <a:lnTo>
                    <a:pt x="9004" y="703795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15916" y="1517309"/>
            <a:ext cx="2266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HiveMQ</a:t>
            </a:r>
            <a:r>
              <a:rPr sz="1100" spc="-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Cloud</a:t>
            </a:r>
            <a:r>
              <a:rPr sz="1100" spc="-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Serverless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(gratuito,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TLS)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5404" y="2094117"/>
            <a:ext cx="8321040" cy="777240"/>
            <a:chOff x="365404" y="2094117"/>
            <a:chExt cx="8321040" cy="777240"/>
          </a:xfrm>
        </p:grpSpPr>
        <p:sp>
          <p:nvSpPr>
            <p:cNvPr id="21" name="object 21"/>
            <p:cNvSpPr/>
            <p:nvPr/>
          </p:nvSpPr>
          <p:spPr>
            <a:xfrm>
              <a:off x="365404" y="2094117"/>
              <a:ext cx="8321040" cy="777240"/>
            </a:xfrm>
            <a:custGeom>
              <a:avLst/>
              <a:gdLst/>
              <a:ahLst/>
              <a:cxnLst/>
              <a:rect l="l" t="t" r="r" b="b"/>
              <a:pathLst>
                <a:path w="8321040" h="777239">
                  <a:moveTo>
                    <a:pt x="832067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4160520" y="776884"/>
                  </a:lnTo>
                  <a:lnTo>
                    <a:pt x="8320671" y="776884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835" y="2294638"/>
              <a:ext cx="319684" cy="3196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34840" y="2130122"/>
              <a:ext cx="18415" cy="704215"/>
            </a:xfrm>
            <a:custGeom>
              <a:avLst/>
              <a:gdLst/>
              <a:ahLst/>
              <a:cxnLst/>
              <a:rect l="l" t="t" r="r" b="b"/>
              <a:pathLst>
                <a:path w="18414" h="704214">
                  <a:moveTo>
                    <a:pt x="17995" y="0"/>
                  </a:moveTo>
                  <a:lnTo>
                    <a:pt x="0" y="0"/>
                  </a:lnTo>
                  <a:lnTo>
                    <a:pt x="0" y="703795"/>
                  </a:lnTo>
                  <a:lnTo>
                    <a:pt x="9004" y="703795"/>
                  </a:lnTo>
                  <a:lnTo>
                    <a:pt x="17995" y="703795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65404" y="2094117"/>
            <a:ext cx="8321040" cy="77724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100">
              <a:latin typeface="Times New Roman"/>
              <a:cs typeface="Times New Roman"/>
            </a:endParaRPr>
          </a:p>
          <a:p>
            <a:pPr marL="565150">
              <a:lnSpc>
                <a:spcPct val="100000"/>
              </a:lnSpc>
              <a:tabLst>
                <a:tab pos="4250055" algn="l"/>
              </a:tabLst>
            </a:pP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Comunicación</a:t>
            </a:r>
            <a:r>
              <a:rPr sz="1200" b="1" spc="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encriptada</a:t>
            </a:r>
            <a:r>
              <a:rPr sz="1200" b="1" dirty="0">
                <a:solidFill>
                  <a:srgbClr val="EFF8FF"/>
                </a:solidFill>
                <a:latin typeface="Calibri"/>
                <a:cs typeface="Calibri"/>
              </a:rPr>
              <a:t>	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TLS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puerto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8883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con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Amazon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Root</a:t>
            </a:r>
            <a:r>
              <a:rPr sz="1650" spc="-44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CA</a:t>
            </a:r>
            <a:r>
              <a:rPr sz="1650" spc="-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1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en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spc="-15" baseline="2525" dirty="0">
                <a:solidFill>
                  <a:srgbClr val="93A2B7"/>
                </a:solidFill>
                <a:latin typeface="Calibri"/>
                <a:cs typeface="Calibri"/>
              </a:rPr>
              <a:t>PROGMEM</a:t>
            </a:r>
            <a:endParaRPr sz="1650" baseline="2525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5404" y="2962797"/>
            <a:ext cx="8321040" cy="777240"/>
            <a:chOff x="365404" y="2962797"/>
            <a:chExt cx="8321040" cy="777240"/>
          </a:xfrm>
        </p:grpSpPr>
        <p:sp>
          <p:nvSpPr>
            <p:cNvPr id="26" name="object 26"/>
            <p:cNvSpPr/>
            <p:nvPr/>
          </p:nvSpPr>
          <p:spPr>
            <a:xfrm>
              <a:off x="365404" y="2962797"/>
              <a:ext cx="8321040" cy="777240"/>
            </a:xfrm>
            <a:custGeom>
              <a:avLst/>
              <a:gdLst/>
              <a:ahLst/>
              <a:cxnLst/>
              <a:rect l="l" t="t" r="r" b="b"/>
              <a:pathLst>
                <a:path w="8321040" h="777239">
                  <a:moveTo>
                    <a:pt x="832067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4160520" y="776884"/>
                  </a:lnTo>
                  <a:lnTo>
                    <a:pt x="8320671" y="776884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C1E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835" y="3163317"/>
              <a:ext cx="319684" cy="31968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434840" y="2998802"/>
              <a:ext cx="18415" cy="704215"/>
            </a:xfrm>
            <a:custGeom>
              <a:avLst/>
              <a:gdLst/>
              <a:ahLst/>
              <a:cxnLst/>
              <a:rect l="l" t="t" r="r" b="b"/>
              <a:pathLst>
                <a:path w="18414" h="704214">
                  <a:moveTo>
                    <a:pt x="17995" y="0"/>
                  </a:moveTo>
                  <a:lnTo>
                    <a:pt x="0" y="0"/>
                  </a:lnTo>
                  <a:lnTo>
                    <a:pt x="0" y="703795"/>
                  </a:lnTo>
                  <a:lnTo>
                    <a:pt x="9004" y="703795"/>
                  </a:lnTo>
                  <a:lnTo>
                    <a:pt x="17995" y="703795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5404" y="2962797"/>
            <a:ext cx="8321040" cy="77724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100">
              <a:latin typeface="Times New Roman"/>
              <a:cs typeface="Times New Roman"/>
            </a:endParaRPr>
          </a:p>
          <a:p>
            <a:pPr marL="565150">
              <a:lnSpc>
                <a:spcPct val="100000"/>
              </a:lnSpc>
              <a:tabLst>
                <a:tab pos="4250055" algn="l"/>
              </a:tabLst>
            </a:pP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Endpoint</a:t>
            </a:r>
            <a:r>
              <a:rPr sz="1200" b="1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healthcheck</a:t>
            </a:r>
            <a:r>
              <a:rPr sz="1200" b="1" dirty="0">
                <a:solidFill>
                  <a:srgbClr val="EFF8FF"/>
                </a:solidFill>
                <a:latin typeface="Calibri"/>
                <a:cs typeface="Calibri"/>
              </a:rPr>
              <a:t>	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GET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/status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→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JSON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con</a:t>
            </a:r>
            <a:r>
              <a:rPr sz="1650" spc="-44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uptime,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wifi,</a:t>
            </a:r>
            <a:r>
              <a:rPr sz="1650" spc="-37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mqtt,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ip,</a:t>
            </a:r>
            <a:r>
              <a:rPr sz="1650" spc="-52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hora</a:t>
            </a:r>
            <a:endParaRPr sz="1650" baseline="2525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5404" y="3831477"/>
            <a:ext cx="8321040" cy="777240"/>
            <a:chOff x="365404" y="3831477"/>
            <a:chExt cx="8321040" cy="777240"/>
          </a:xfrm>
        </p:grpSpPr>
        <p:sp>
          <p:nvSpPr>
            <p:cNvPr id="31" name="object 31"/>
            <p:cNvSpPr/>
            <p:nvPr/>
          </p:nvSpPr>
          <p:spPr>
            <a:xfrm>
              <a:off x="365404" y="3831477"/>
              <a:ext cx="8321040" cy="777240"/>
            </a:xfrm>
            <a:custGeom>
              <a:avLst/>
              <a:gdLst/>
              <a:ahLst/>
              <a:cxnLst/>
              <a:rect l="l" t="t" r="r" b="b"/>
              <a:pathLst>
                <a:path w="8321040" h="777239">
                  <a:moveTo>
                    <a:pt x="8320671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4160520" y="776884"/>
                  </a:lnTo>
                  <a:lnTo>
                    <a:pt x="8320671" y="776884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835" y="4031998"/>
              <a:ext cx="319684" cy="31968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434840" y="3867482"/>
              <a:ext cx="18415" cy="704215"/>
            </a:xfrm>
            <a:custGeom>
              <a:avLst/>
              <a:gdLst/>
              <a:ahLst/>
              <a:cxnLst/>
              <a:rect l="l" t="t" r="r" b="b"/>
              <a:pathLst>
                <a:path w="18414" h="704214">
                  <a:moveTo>
                    <a:pt x="17995" y="0"/>
                  </a:moveTo>
                  <a:lnTo>
                    <a:pt x="0" y="0"/>
                  </a:lnTo>
                  <a:lnTo>
                    <a:pt x="0" y="703795"/>
                  </a:lnTo>
                  <a:lnTo>
                    <a:pt x="9004" y="703795"/>
                  </a:lnTo>
                  <a:lnTo>
                    <a:pt x="17995" y="703795"/>
                  </a:lnTo>
                  <a:lnTo>
                    <a:pt x="17995" y="0"/>
                  </a:lnTo>
                  <a:close/>
                </a:path>
              </a:pathLst>
            </a:custGeom>
            <a:solidFill>
              <a:srgbClr val="465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404" y="3831477"/>
            <a:ext cx="8321040" cy="777240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35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70"/>
              </a:spcBef>
            </a:pPr>
            <a:endParaRPr sz="1100">
              <a:latin typeface="Times New Roman"/>
              <a:cs typeface="Times New Roman"/>
            </a:endParaRPr>
          </a:p>
          <a:p>
            <a:pPr marL="565150">
              <a:lnSpc>
                <a:spcPct val="100000"/>
              </a:lnSpc>
              <a:tabLst>
                <a:tab pos="4250055" algn="l"/>
              </a:tabLst>
            </a:pPr>
            <a:r>
              <a:rPr sz="1200" b="1" spc="-10" dirty="0">
                <a:solidFill>
                  <a:srgbClr val="EFF8FF"/>
                </a:solidFill>
                <a:latin typeface="Calibri"/>
                <a:cs typeface="Calibri"/>
              </a:rPr>
              <a:t>Sincronización</a:t>
            </a:r>
            <a:r>
              <a:rPr sz="1200" b="1" spc="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EFF8FF"/>
                </a:solidFill>
                <a:latin typeface="Calibri"/>
                <a:cs typeface="Calibri"/>
              </a:rPr>
              <a:t>NTP</a:t>
            </a:r>
            <a:r>
              <a:rPr sz="1200" b="1" dirty="0">
                <a:solidFill>
                  <a:srgbClr val="EFF8FF"/>
                </a:solidFill>
                <a:latin typeface="Calibri"/>
                <a:cs typeface="Calibri"/>
              </a:rPr>
              <a:t>	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configTime()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con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pool.ntp.org</a:t>
            </a:r>
            <a:r>
              <a:rPr sz="1650" spc="-15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+</a:t>
            </a:r>
            <a:r>
              <a:rPr sz="1650" spc="-52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time.google.com,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UTC-</a:t>
            </a:r>
            <a:r>
              <a:rPr sz="1650" baseline="2525" dirty="0">
                <a:solidFill>
                  <a:srgbClr val="93A2B7"/>
                </a:solidFill>
                <a:latin typeface="Calibri"/>
                <a:cs typeface="Calibri"/>
              </a:rPr>
              <a:t>5</a:t>
            </a:r>
            <a:r>
              <a:rPr sz="1650" spc="-30" baseline="25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650" spc="-15" baseline="2525" dirty="0">
                <a:solidFill>
                  <a:srgbClr val="93A2B7"/>
                </a:solidFill>
                <a:latin typeface="Calibri"/>
                <a:cs typeface="Calibri"/>
              </a:rPr>
              <a:t>Colombia</a:t>
            </a:r>
            <a:endParaRPr sz="1650" baseline="252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570" dirty="0"/>
              <a:t>D</a:t>
            </a:r>
            <a:r>
              <a:rPr sz="8000" spc="575" dirty="0"/>
              <a:t>E</a:t>
            </a:r>
            <a:r>
              <a:rPr sz="8000" spc="580" dirty="0"/>
              <a:t>M</a:t>
            </a:r>
            <a:r>
              <a:rPr sz="8000" spc="-15" dirty="0"/>
              <a:t>O</a:t>
            </a:r>
            <a:r>
              <a:rPr sz="8000" spc="1200" dirty="0"/>
              <a:t> </a:t>
            </a:r>
            <a:r>
              <a:rPr sz="8000" spc="570" dirty="0"/>
              <a:t>E</a:t>
            </a:r>
            <a:r>
              <a:rPr sz="8000" spc="-30" dirty="0"/>
              <a:t>N</a:t>
            </a:r>
            <a:r>
              <a:rPr sz="8000" spc="1200" dirty="0"/>
              <a:t> </a:t>
            </a:r>
            <a:r>
              <a:rPr sz="8000" spc="545" dirty="0"/>
              <a:t>V</a:t>
            </a:r>
            <a:r>
              <a:rPr sz="8000" spc="555" dirty="0"/>
              <a:t>I</a:t>
            </a:r>
            <a:r>
              <a:rPr sz="8000" spc="385" dirty="0"/>
              <a:t>V</a:t>
            </a:r>
            <a:r>
              <a:rPr sz="8000" spc="-40" dirty="0"/>
              <a:t>O</a:t>
            </a:r>
            <a:endParaRPr sz="8000"/>
          </a:p>
        </p:txBody>
      </p:sp>
      <p:sp>
        <p:nvSpPr>
          <p:cNvPr id="3" name="object 3"/>
          <p:cNvSpPr txBox="1"/>
          <p:nvPr/>
        </p:nvSpPr>
        <p:spPr>
          <a:xfrm>
            <a:off x="1770379" y="3583345"/>
            <a:ext cx="5594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5" dirty="0">
                <a:solidFill>
                  <a:srgbClr val="93A2B7"/>
                </a:solidFill>
                <a:latin typeface="Calibri"/>
                <a:cs typeface="Calibri"/>
              </a:rPr>
              <a:t>ESP32</a:t>
            </a:r>
            <a:r>
              <a:rPr sz="1400" spc="140" dirty="0">
                <a:solidFill>
                  <a:srgbClr val="93A2B7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93A2B7"/>
                </a:solidFill>
                <a:latin typeface="Calibri"/>
                <a:cs typeface="Calibri"/>
              </a:rPr>
              <a:t>→</a:t>
            </a:r>
            <a:r>
              <a:rPr sz="1400" spc="160" dirty="0">
                <a:solidFill>
                  <a:srgbClr val="93A2B7"/>
                </a:solidFill>
                <a:latin typeface="Calibri"/>
                <a:cs typeface="Calibri"/>
              </a:rPr>
              <a:t>  </a:t>
            </a:r>
            <a:r>
              <a:rPr sz="1400" spc="70" dirty="0">
                <a:solidFill>
                  <a:srgbClr val="93A2B7"/>
                </a:solidFill>
                <a:latin typeface="Calibri"/>
                <a:cs typeface="Calibri"/>
              </a:rPr>
              <a:t>HiveMQ</a:t>
            </a:r>
            <a:r>
              <a:rPr sz="1400" spc="150" dirty="0">
                <a:solidFill>
                  <a:srgbClr val="93A2B7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93A2B7"/>
                </a:solidFill>
                <a:latin typeface="Calibri"/>
                <a:cs typeface="Calibri"/>
              </a:rPr>
              <a:t>→</a:t>
            </a:r>
            <a:r>
              <a:rPr sz="1400" spc="155" dirty="0">
                <a:solidFill>
                  <a:srgbClr val="93A2B7"/>
                </a:solidFill>
                <a:latin typeface="Calibri"/>
                <a:cs typeface="Calibri"/>
              </a:rPr>
              <a:t>  </a:t>
            </a:r>
            <a:r>
              <a:rPr sz="1400" spc="75" dirty="0">
                <a:solidFill>
                  <a:srgbClr val="93A2B7"/>
                </a:solidFill>
                <a:latin typeface="Calibri"/>
                <a:cs typeface="Calibri"/>
              </a:rPr>
              <a:t>Python</a:t>
            </a:r>
            <a:r>
              <a:rPr sz="1400" spc="160" dirty="0">
                <a:solidFill>
                  <a:srgbClr val="93A2B7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93A2B7"/>
                </a:solidFill>
                <a:latin typeface="Calibri"/>
                <a:cs typeface="Calibri"/>
              </a:rPr>
              <a:t>→</a:t>
            </a:r>
            <a:r>
              <a:rPr sz="1400" spc="150" dirty="0">
                <a:solidFill>
                  <a:srgbClr val="93A2B7"/>
                </a:solidFill>
                <a:latin typeface="Calibri"/>
                <a:cs typeface="Calibri"/>
              </a:rPr>
              <a:t>  </a:t>
            </a:r>
            <a:r>
              <a:rPr sz="1400" spc="70" dirty="0">
                <a:solidFill>
                  <a:srgbClr val="93A2B7"/>
                </a:solidFill>
                <a:latin typeface="Calibri"/>
                <a:cs typeface="Calibri"/>
              </a:rPr>
              <a:t>Mouse</a:t>
            </a:r>
            <a:r>
              <a:rPr sz="1400" spc="204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3A2B7"/>
                </a:solidFill>
                <a:latin typeface="Calibri"/>
                <a:cs typeface="Calibri"/>
              </a:rPr>
              <a:t>y</a:t>
            </a:r>
            <a:r>
              <a:rPr sz="1400" spc="19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93A2B7"/>
                </a:solidFill>
                <a:latin typeface="Calibri"/>
                <a:cs typeface="Calibri"/>
              </a:rPr>
              <a:t>teclado</a:t>
            </a:r>
            <a:r>
              <a:rPr sz="1400" spc="2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3A2B7"/>
                </a:solidFill>
                <a:latin typeface="Calibri"/>
                <a:cs typeface="Calibri"/>
              </a:rPr>
              <a:t>en</a:t>
            </a:r>
            <a:r>
              <a:rPr sz="1400" spc="20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93A2B7"/>
                </a:solidFill>
                <a:latin typeface="Calibri"/>
                <a:cs typeface="Calibri"/>
              </a:rPr>
              <a:t>ti</a:t>
            </a:r>
            <a:r>
              <a:rPr sz="1400" spc="-10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93A2B7"/>
                </a:solidFill>
                <a:latin typeface="Calibri"/>
                <a:cs typeface="Calibri"/>
              </a:rPr>
              <a:t>empo</a:t>
            </a:r>
            <a:r>
              <a:rPr sz="1400" spc="19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93A2B7"/>
                </a:solidFill>
                <a:latin typeface="Calibri"/>
                <a:cs typeface="Calibri"/>
              </a:rPr>
              <a:t>real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2285633"/>
            <a:ext cx="8229600" cy="457200"/>
            <a:chOff x="457200" y="2285633"/>
            <a:chExt cx="8229600" cy="457200"/>
          </a:xfrm>
        </p:grpSpPr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285633"/>
              <a:ext cx="456844" cy="456844"/>
            </a:xfrm>
            <a:prstGeom prst="rect">
              <a:avLst/>
            </a:prstGeom>
          </p:spPr>
        </p:pic>
        <p:pic>
          <p:nvPicPr>
            <p:cNvPr id="6" name="object 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2285633"/>
              <a:ext cx="456844" cy="4568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Obstáculos</a:t>
            </a:r>
            <a:r>
              <a:rPr spc="-75" dirty="0"/>
              <a:t> </a:t>
            </a:r>
            <a:r>
              <a:rPr spc="-10" dirty="0"/>
              <a:t>encontrados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104" y="835026"/>
            <a:ext cx="8333740" cy="881380"/>
            <a:chOff x="359104" y="835026"/>
            <a:chExt cx="8333740" cy="881380"/>
          </a:xfrm>
        </p:grpSpPr>
        <p:sp>
          <p:nvSpPr>
            <p:cNvPr id="7" name="object 7"/>
            <p:cNvSpPr/>
            <p:nvPr/>
          </p:nvSpPr>
          <p:spPr>
            <a:xfrm>
              <a:off x="365404" y="84132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80">
                  <a:moveTo>
                    <a:pt x="8320671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4160520" y="868311"/>
                  </a:lnTo>
                  <a:lnTo>
                    <a:pt x="8320671" y="868311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101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84132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80">
                  <a:moveTo>
                    <a:pt x="4160520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8320671" y="0"/>
                  </a:lnTo>
                  <a:lnTo>
                    <a:pt x="8320671" y="868311"/>
                  </a:lnTo>
                  <a:lnTo>
                    <a:pt x="4160520" y="868311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760" y="84132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80">
                  <a:moveTo>
                    <a:pt x="136804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68402" y="868311"/>
                  </a:lnTo>
                  <a:lnTo>
                    <a:pt x="136804" y="868311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760" y="84132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80">
                  <a:moveTo>
                    <a:pt x="68402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136804" y="0"/>
                  </a:lnTo>
                  <a:lnTo>
                    <a:pt x="136804" y="868311"/>
                  </a:lnTo>
                  <a:lnTo>
                    <a:pt x="68402" y="868311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60" y="1087922"/>
              <a:ext cx="347040" cy="34704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08864" y="886968"/>
            <a:ext cx="8171180" cy="5638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870"/>
              </a:spcBef>
            </a:pP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ESP32</a:t>
            </a:r>
            <a:r>
              <a:rPr sz="1200" b="1" spc="-4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WROOM</a:t>
            </a:r>
            <a:r>
              <a:rPr sz="1200" b="1" spc="-4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no</a:t>
            </a:r>
            <a:r>
              <a:rPr sz="1200" b="1" spc="-5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soporta</a:t>
            </a:r>
            <a:r>
              <a:rPr sz="1200" b="1" spc="-4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USB</a:t>
            </a:r>
            <a:r>
              <a:rPr sz="1200" b="1" spc="-4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49D0A"/>
                </a:solidFill>
                <a:latin typeface="Calibri"/>
                <a:cs typeface="Calibri"/>
              </a:rPr>
              <a:t>HID</a:t>
            </a:r>
            <a:endParaRPr sz="1200">
              <a:latin typeface="Calibri"/>
              <a:cs typeface="Calibri"/>
            </a:endParaRPr>
          </a:p>
          <a:p>
            <a:pPr marL="631825">
              <a:lnSpc>
                <a:spcPct val="100000"/>
              </a:lnSpc>
              <a:spcBef>
                <a:spcPts val="705"/>
              </a:spcBef>
            </a:pPr>
            <a:r>
              <a:rPr sz="1100" spc="445" dirty="0">
                <a:solidFill>
                  <a:srgbClr val="93A2B7"/>
                </a:solidFill>
                <a:latin typeface="Calibri"/>
                <a:cs typeface="Calibri"/>
              </a:rPr>
              <a:t>*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Se</a:t>
            </a:r>
            <a:r>
              <a:rPr sz="1100" spc="-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implementó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script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Python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con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pynput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para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controlar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mouse</a:t>
            </a:r>
            <a:r>
              <a:rPr sz="1100" spc="-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y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teclado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desde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el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93A2B7"/>
                </a:solidFill>
                <a:latin typeface="Calibri"/>
                <a:cs typeface="Calibri"/>
              </a:rPr>
              <a:t>PC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104" y="1840866"/>
            <a:ext cx="8333740" cy="881380"/>
            <a:chOff x="359104" y="1840866"/>
            <a:chExt cx="8333740" cy="881380"/>
          </a:xfrm>
        </p:grpSpPr>
        <p:sp>
          <p:nvSpPr>
            <p:cNvPr id="14" name="object 14"/>
            <p:cNvSpPr/>
            <p:nvPr/>
          </p:nvSpPr>
          <p:spPr>
            <a:xfrm>
              <a:off x="365404" y="184716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80">
                  <a:moveTo>
                    <a:pt x="8320671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4160520" y="868311"/>
                  </a:lnTo>
                  <a:lnTo>
                    <a:pt x="8320671" y="868311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D1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404" y="184716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80">
                  <a:moveTo>
                    <a:pt x="4160520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8320671" y="0"/>
                  </a:lnTo>
                  <a:lnTo>
                    <a:pt x="8320671" y="868311"/>
                  </a:lnTo>
                  <a:lnTo>
                    <a:pt x="4160520" y="868311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60" y="184716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80">
                  <a:moveTo>
                    <a:pt x="136804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68402" y="868311"/>
                  </a:lnTo>
                  <a:lnTo>
                    <a:pt x="136804" y="868311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60" y="184716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80">
                  <a:moveTo>
                    <a:pt x="68402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136804" y="0"/>
                  </a:lnTo>
                  <a:lnTo>
                    <a:pt x="136804" y="868311"/>
                  </a:lnTo>
                  <a:lnTo>
                    <a:pt x="68402" y="868311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60" y="2093762"/>
              <a:ext cx="347040" cy="34704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08864" y="1892808"/>
            <a:ext cx="8171180" cy="5638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870"/>
              </a:spcBef>
            </a:pP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Red 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universitaria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49D0A"/>
                </a:solidFill>
                <a:latin typeface="Calibri"/>
                <a:cs typeface="Calibri"/>
              </a:rPr>
              <a:t>WPA2-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Enterprise</a:t>
            </a:r>
            <a:r>
              <a:rPr sz="1200" b="1" spc="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incompatible</a:t>
            </a:r>
            <a:endParaRPr sz="1200">
              <a:latin typeface="Calibri"/>
              <a:cs typeface="Calibri"/>
            </a:endParaRPr>
          </a:p>
          <a:p>
            <a:pPr marL="631825">
              <a:lnSpc>
                <a:spcPct val="100000"/>
              </a:lnSpc>
              <a:spcBef>
                <a:spcPts val="705"/>
              </a:spcBef>
            </a:pPr>
            <a:r>
              <a:rPr sz="1100" spc="445" dirty="0">
                <a:solidFill>
                  <a:srgbClr val="93A2B7"/>
                </a:solidFill>
                <a:latin typeface="Calibri"/>
                <a:cs typeface="Calibri"/>
              </a:rPr>
              <a:t>*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Se</a:t>
            </a:r>
            <a:r>
              <a:rPr sz="1100" spc="-2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utilizó</a:t>
            </a:r>
            <a:r>
              <a:rPr sz="11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hotspot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móvil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para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conectividad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WiFi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del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ESP32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9104" y="2846706"/>
            <a:ext cx="8333740" cy="881380"/>
            <a:chOff x="359104" y="2846706"/>
            <a:chExt cx="8333740" cy="881380"/>
          </a:xfrm>
        </p:grpSpPr>
        <p:sp>
          <p:nvSpPr>
            <p:cNvPr id="21" name="object 21"/>
            <p:cNvSpPr/>
            <p:nvPr/>
          </p:nvSpPr>
          <p:spPr>
            <a:xfrm>
              <a:off x="365404" y="285300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79">
                  <a:moveTo>
                    <a:pt x="8320671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4160520" y="868311"/>
                  </a:lnTo>
                  <a:lnTo>
                    <a:pt x="8320671" y="868311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1018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404" y="285300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79">
                  <a:moveTo>
                    <a:pt x="4160520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8320671" y="0"/>
                  </a:lnTo>
                  <a:lnTo>
                    <a:pt x="8320671" y="868311"/>
                  </a:lnTo>
                  <a:lnTo>
                    <a:pt x="4160520" y="868311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760" y="285300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79">
                  <a:moveTo>
                    <a:pt x="136804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68402" y="868311"/>
                  </a:lnTo>
                  <a:lnTo>
                    <a:pt x="136804" y="868311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760" y="285300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79">
                  <a:moveTo>
                    <a:pt x="68402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136804" y="0"/>
                  </a:lnTo>
                  <a:lnTo>
                    <a:pt x="136804" y="868311"/>
                  </a:lnTo>
                  <a:lnTo>
                    <a:pt x="68402" y="868311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60" y="3099602"/>
              <a:ext cx="347040" cy="34704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08864" y="2898648"/>
            <a:ext cx="8171180" cy="5638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870"/>
              </a:spcBef>
            </a:pP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Certificado</a:t>
            </a:r>
            <a:r>
              <a:rPr sz="12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TLS</a:t>
            </a:r>
            <a:r>
              <a:rPr sz="12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incorrecto</a:t>
            </a:r>
            <a:r>
              <a:rPr sz="12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(ISRG</a:t>
            </a:r>
            <a:r>
              <a:rPr sz="12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vs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Amazon</a:t>
            </a:r>
            <a:r>
              <a:rPr sz="12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Root</a:t>
            </a:r>
            <a:r>
              <a:rPr sz="1200" b="1" spc="-1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CA</a:t>
            </a:r>
            <a:r>
              <a:rPr sz="1200" b="1" spc="-2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F49D0A"/>
                </a:solidFill>
                <a:latin typeface="Calibri"/>
                <a:cs typeface="Calibri"/>
              </a:rPr>
              <a:t>1)</a:t>
            </a:r>
            <a:endParaRPr sz="1200">
              <a:latin typeface="Calibri"/>
              <a:cs typeface="Calibri"/>
            </a:endParaRPr>
          </a:p>
          <a:p>
            <a:pPr marL="631825">
              <a:lnSpc>
                <a:spcPct val="100000"/>
              </a:lnSpc>
              <a:spcBef>
                <a:spcPts val="705"/>
              </a:spcBef>
            </a:pPr>
            <a:r>
              <a:rPr sz="1100" spc="445" dirty="0">
                <a:solidFill>
                  <a:srgbClr val="93A2B7"/>
                </a:solidFill>
                <a:latin typeface="Calibri"/>
                <a:cs typeface="Calibri"/>
              </a:rPr>
              <a:t>*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Error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rc=-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2</a:t>
            </a:r>
            <a:r>
              <a:rPr sz="11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resuelto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reemplazando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con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Amazon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Root</a:t>
            </a:r>
            <a:r>
              <a:rPr sz="1100" spc="-2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CA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1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almacenada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en</a:t>
            </a:r>
            <a:r>
              <a:rPr sz="11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PROGMEM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9104" y="3852546"/>
            <a:ext cx="8333740" cy="881380"/>
            <a:chOff x="359104" y="3852546"/>
            <a:chExt cx="8333740" cy="881380"/>
          </a:xfrm>
        </p:grpSpPr>
        <p:sp>
          <p:nvSpPr>
            <p:cNvPr id="28" name="object 28"/>
            <p:cNvSpPr/>
            <p:nvPr/>
          </p:nvSpPr>
          <p:spPr>
            <a:xfrm>
              <a:off x="365404" y="385884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79">
                  <a:moveTo>
                    <a:pt x="8320671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4160520" y="868311"/>
                  </a:lnTo>
                  <a:lnTo>
                    <a:pt x="8320671" y="868311"/>
                  </a:lnTo>
                  <a:lnTo>
                    <a:pt x="8320671" y="0"/>
                  </a:lnTo>
                  <a:close/>
                </a:path>
              </a:pathLst>
            </a:custGeom>
            <a:solidFill>
              <a:srgbClr val="0D14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404" y="3858846"/>
              <a:ext cx="8321040" cy="868680"/>
            </a:xfrm>
            <a:custGeom>
              <a:avLst/>
              <a:gdLst/>
              <a:ahLst/>
              <a:cxnLst/>
              <a:rect l="l" t="t" r="r" b="b"/>
              <a:pathLst>
                <a:path w="8321040" h="868679">
                  <a:moveTo>
                    <a:pt x="4160520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8320671" y="0"/>
                  </a:lnTo>
                  <a:lnTo>
                    <a:pt x="8320671" y="868311"/>
                  </a:lnTo>
                  <a:lnTo>
                    <a:pt x="4160520" y="868311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5760" y="385884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79">
                  <a:moveTo>
                    <a:pt x="136804" y="0"/>
                  </a:moveTo>
                  <a:lnTo>
                    <a:pt x="0" y="0"/>
                  </a:lnTo>
                  <a:lnTo>
                    <a:pt x="0" y="868311"/>
                  </a:lnTo>
                  <a:lnTo>
                    <a:pt x="68402" y="868311"/>
                  </a:lnTo>
                  <a:lnTo>
                    <a:pt x="136804" y="868311"/>
                  </a:lnTo>
                  <a:lnTo>
                    <a:pt x="136804" y="0"/>
                  </a:lnTo>
                  <a:close/>
                </a:path>
              </a:pathLst>
            </a:custGeom>
            <a:solidFill>
              <a:srgbClr val="F4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5760" y="3858846"/>
              <a:ext cx="137160" cy="868680"/>
            </a:xfrm>
            <a:custGeom>
              <a:avLst/>
              <a:gdLst/>
              <a:ahLst/>
              <a:cxnLst/>
              <a:rect l="l" t="t" r="r" b="b"/>
              <a:pathLst>
                <a:path w="137159" h="868679">
                  <a:moveTo>
                    <a:pt x="68402" y="868311"/>
                  </a:moveTo>
                  <a:lnTo>
                    <a:pt x="0" y="868311"/>
                  </a:lnTo>
                  <a:lnTo>
                    <a:pt x="0" y="0"/>
                  </a:lnTo>
                  <a:lnTo>
                    <a:pt x="136804" y="0"/>
                  </a:lnTo>
                  <a:lnTo>
                    <a:pt x="136804" y="868311"/>
                  </a:lnTo>
                  <a:lnTo>
                    <a:pt x="68402" y="868311"/>
                  </a:lnTo>
                  <a:close/>
                </a:path>
              </a:pathLst>
            </a:custGeom>
            <a:ln w="12599">
              <a:solidFill>
                <a:srgbClr val="F4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60" y="4105442"/>
              <a:ext cx="347040" cy="34704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08864" y="3904488"/>
            <a:ext cx="8171180" cy="5638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870"/>
              </a:spcBef>
            </a:pP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API</a:t>
            </a:r>
            <a:r>
              <a:rPr sz="1200" b="1" spc="-25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paho-</a:t>
            </a:r>
            <a:r>
              <a:rPr sz="1200" b="1" dirty="0">
                <a:solidFill>
                  <a:srgbClr val="F49D0A"/>
                </a:solidFill>
                <a:latin typeface="Calibri"/>
                <a:cs typeface="Calibri"/>
              </a:rPr>
              <a:t>mqtt</a:t>
            </a:r>
            <a:r>
              <a:rPr sz="1200" b="1" spc="-40" dirty="0">
                <a:solidFill>
                  <a:srgbClr val="F49D0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F49D0A"/>
                </a:solidFill>
                <a:latin typeface="Calibri"/>
                <a:cs typeface="Calibri"/>
              </a:rPr>
              <a:t>deprecada</a:t>
            </a:r>
            <a:endParaRPr sz="1200">
              <a:latin typeface="Calibri"/>
              <a:cs typeface="Calibri"/>
            </a:endParaRPr>
          </a:p>
          <a:p>
            <a:pPr marL="631825">
              <a:lnSpc>
                <a:spcPct val="100000"/>
              </a:lnSpc>
              <a:spcBef>
                <a:spcPts val="705"/>
              </a:spcBef>
            </a:pPr>
            <a:r>
              <a:rPr sz="1100" spc="445" dirty="0">
                <a:solidFill>
                  <a:srgbClr val="93A2B7"/>
                </a:solidFill>
                <a:latin typeface="Calibri"/>
                <a:cs typeface="Calibri"/>
              </a:rPr>
              <a:t>*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Migración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a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CallbackAPIVersion.VERSION2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con</a:t>
            </a:r>
            <a:r>
              <a:rPr sz="1100" spc="-1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la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nueva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firma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7"/>
                </a:solidFill>
                <a:latin typeface="Calibri"/>
                <a:cs typeface="Calibri"/>
              </a:rPr>
              <a:t>de</a:t>
            </a:r>
            <a:r>
              <a:rPr sz="1100" spc="-5" dirty="0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7"/>
                </a:solidFill>
                <a:latin typeface="Calibri"/>
                <a:cs typeface="Calibri"/>
              </a:rPr>
              <a:t>callbacks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Limitaciones</a:t>
            </a:r>
            <a:r>
              <a:rPr spc="-75" dirty="0"/>
              <a:t> </a:t>
            </a:r>
            <a:r>
              <a:rPr dirty="0"/>
              <a:t>y</a:t>
            </a:r>
            <a:r>
              <a:rPr spc="-55" dirty="0"/>
              <a:t> </a:t>
            </a:r>
            <a:r>
              <a:rPr dirty="0"/>
              <a:t>mejoras</a:t>
            </a:r>
            <a:r>
              <a:rPr spc="-75" dirty="0"/>
              <a:t> </a:t>
            </a:r>
            <a:r>
              <a:rPr spc="-10" dirty="0"/>
              <a:t>futuras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104" y="706502"/>
            <a:ext cx="8425180" cy="40005"/>
            <a:chOff x="359104" y="706502"/>
            <a:chExt cx="8425180" cy="40005"/>
          </a:xfrm>
        </p:grpSpPr>
        <p:sp>
          <p:nvSpPr>
            <p:cNvPr id="4" name="object 4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8412111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4206240" y="27000"/>
                  </a:lnTo>
                  <a:lnTo>
                    <a:pt x="8412111" y="27000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3A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404" y="712802"/>
              <a:ext cx="8412480" cy="27305"/>
            </a:xfrm>
            <a:custGeom>
              <a:avLst/>
              <a:gdLst/>
              <a:ahLst/>
              <a:cxnLst/>
              <a:rect l="l" t="t" r="r" b="b"/>
              <a:pathLst>
                <a:path w="8412480" h="27304">
                  <a:moveTo>
                    <a:pt x="4206240" y="27000"/>
                  </a:moveTo>
                  <a:lnTo>
                    <a:pt x="0" y="27000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27000"/>
                  </a:lnTo>
                  <a:lnTo>
                    <a:pt x="4206240" y="27000"/>
                  </a:lnTo>
                  <a:close/>
                </a:path>
              </a:pathLst>
            </a:custGeom>
            <a:ln w="12599">
              <a:solidFill>
                <a:srgbClr val="3A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65404" y="822962"/>
            <a:ext cx="4023360" cy="384175"/>
          </a:xfrm>
          <a:custGeom>
            <a:avLst/>
            <a:gdLst/>
            <a:ahLst/>
            <a:cxnLst/>
            <a:rect l="l" t="t" r="r" b="b"/>
            <a:pathLst>
              <a:path w="4023360" h="384175">
                <a:moveTo>
                  <a:pt x="4022991" y="0"/>
                </a:moveTo>
                <a:lnTo>
                  <a:pt x="0" y="0"/>
                </a:lnTo>
                <a:lnTo>
                  <a:pt x="0" y="383755"/>
                </a:lnTo>
                <a:lnTo>
                  <a:pt x="2011680" y="383755"/>
                </a:lnTo>
                <a:lnTo>
                  <a:pt x="4022991" y="383755"/>
                </a:lnTo>
                <a:lnTo>
                  <a:pt x="4022991" y="0"/>
                </a:lnTo>
                <a:close/>
              </a:path>
            </a:pathLst>
          </a:custGeom>
          <a:solidFill>
            <a:srgbClr val="290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5404" y="822962"/>
            <a:ext cx="4023360" cy="384175"/>
          </a:xfrm>
          <a:prstGeom prst="rect">
            <a:avLst/>
          </a:prstGeom>
          <a:ln w="12599">
            <a:solidFill>
              <a:srgbClr val="F7707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730"/>
              </a:spcBef>
            </a:pPr>
            <a:r>
              <a:rPr sz="1300" b="1" spc="-10" dirty="0">
                <a:solidFill>
                  <a:srgbClr val="F77070"/>
                </a:solidFill>
                <a:latin typeface="Calibri"/>
                <a:cs typeface="Calibri"/>
              </a:rPr>
              <a:t>Limitaciones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54524" y="822962"/>
            <a:ext cx="4023360" cy="384175"/>
          </a:xfrm>
          <a:custGeom>
            <a:avLst/>
            <a:gdLst/>
            <a:ahLst/>
            <a:cxnLst/>
            <a:rect l="l" t="t" r="r" b="b"/>
            <a:pathLst>
              <a:path w="4023359" h="384175">
                <a:moveTo>
                  <a:pt x="4022991" y="0"/>
                </a:moveTo>
                <a:lnTo>
                  <a:pt x="0" y="0"/>
                </a:lnTo>
                <a:lnTo>
                  <a:pt x="0" y="383755"/>
                </a:lnTo>
                <a:lnTo>
                  <a:pt x="2011680" y="383755"/>
                </a:lnTo>
                <a:lnTo>
                  <a:pt x="4022991" y="383755"/>
                </a:lnTo>
                <a:lnTo>
                  <a:pt x="4022991" y="0"/>
                </a:lnTo>
                <a:close/>
              </a:path>
            </a:pathLst>
          </a:custGeom>
          <a:solidFill>
            <a:srgbClr val="09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54524" y="822962"/>
            <a:ext cx="4023360" cy="384175"/>
          </a:xfrm>
          <a:prstGeom prst="rect">
            <a:avLst/>
          </a:prstGeom>
          <a:ln w="12599">
            <a:solidFill>
              <a:srgbClr val="00F4D3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730"/>
              </a:spcBef>
            </a:pPr>
            <a:r>
              <a:rPr sz="1300" b="1" spc="-10" dirty="0">
                <a:solidFill>
                  <a:srgbClr val="00F4D3"/>
                </a:solidFill>
                <a:latin typeface="Calibri"/>
                <a:cs typeface="Calibri"/>
              </a:rPr>
              <a:t>Mejoras</a:t>
            </a:r>
            <a:r>
              <a:rPr sz="1300" b="1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0F4D3"/>
                </a:solidFill>
                <a:latin typeface="Calibri"/>
                <a:cs typeface="Calibri"/>
              </a:rPr>
              <a:t>futuras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5404" y="126179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60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19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5404" y="126179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sz="1150" dirty="0">
                <a:solidFill>
                  <a:srgbClr val="F77070"/>
                </a:solidFill>
                <a:latin typeface="Segoe UI Symbol"/>
                <a:cs typeface="Segoe UI Symbol"/>
              </a:rPr>
              <a:t>✕</a:t>
            </a:r>
            <a:r>
              <a:rPr sz="1150" spc="170" dirty="0">
                <a:solidFill>
                  <a:srgbClr val="F77070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Requiere</a:t>
            </a:r>
            <a:r>
              <a:rPr sz="1150" spc="-2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script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Python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corriendo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en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el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PC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 destino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5404" y="213047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60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19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5404" y="213047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5"/>
              </a:spcBef>
            </a:pPr>
            <a:endParaRPr sz="1150">
              <a:latin typeface="Times New Roman"/>
              <a:cs typeface="Times New Roman"/>
            </a:endParaRPr>
          </a:p>
          <a:p>
            <a:pPr marL="226695" marR="495934">
              <a:lnSpc>
                <a:spcPct val="100000"/>
              </a:lnSpc>
            </a:pPr>
            <a:r>
              <a:rPr sz="1150" dirty="0">
                <a:solidFill>
                  <a:srgbClr val="F77070"/>
                </a:solidFill>
                <a:latin typeface="Segoe UI Symbol"/>
                <a:cs typeface="Segoe UI Symbol"/>
              </a:rPr>
              <a:t>✕</a:t>
            </a:r>
            <a:r>
              <a:rPr sz="1150" spc="160" dirty="0">
                <a:solidFill>
                  <a:srgbClr val="F77070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Depende</a:t>
            </a:r>
            <a:r>
              <a:rPr sz="1150" spc="-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de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 internet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para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acceder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al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broker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HiveMQ Cloud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5404" y="299915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60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19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65404" y="299915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sz="1150" dirty="0">
                <a:solidFill>
                  <a:srgbClr val="F77070"/>
                </a:solidFill>
                <a:latin typeface="Segoe UI Symbol"/>
                <a:cs typeface="Segoe UI Symbol"/>
              </a:rPr>
              <a:t>✕</a:t>
            </a:r>
            <a:r>
              <a:rPr sz="1150" spc="150" dirty="0">
                <a:solidFill>
                  <a:srgbClr val="F77070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Un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solo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botón</a:t>
            </a:r>
            <a:r>
              <a:rPr sz="1150" spc="-2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físico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disponible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77070"/>
                </a:solidFill>
                <a:latin typeface="Calibri"/>
                <a:cs typeface="Calibri"/>
              </a:rPr>
              <a:t>actualmente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5404" y="386783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60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190C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5404" y="386783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sz="1150" dirty="0">
                <a:solidFill>
                  <a:srgbClr val="F77070"/>
                </a:solidFill>
                <a:latin typeface="Segoe UI Symbol"/>
                <a:cs typeface="Segoe UI Symbol"/>
              </a:rPr>
              <a:t>✕</a:t>
            </a:r>
            <a:r>
              <a:rPr sz="1150" spc="155" dirty="0">
                <a:solidFill>
                  <a:srgbClr val="F77070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Sensibilidad</a:t>
            </a:r>
            <a:r>
              <a:rPr sz="1150" spc="-2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no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ajustable</a:t>
            </a:r>
            <a:r>
              <a:rPr sz="1150" spc="-3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en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77070"/>
                </a:solidFill>
                <a:latin typeface="Calibri"/>
                <a:cs typeface="Calibri"/>
              </a:rPr>
              <a:t>tiempo</a:t>
            </a:r>
            <a:r>
              <a:rPr sz="1150" spc="-1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F77070"/>
                </a:solidFill>
                <a:latin typeface="Calibri"/>
                <a:cs typeface="Calibri"/>
              </a:rPr>
              <a:t>real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54524" y="126179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59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091D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754524" y="126179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412750" indent="-186055">
              <a:lnSpc>
                <a:spcPct val="100000"/>
              </a:lnSpc>
              <a:buFont typeface="Segoe UI Symbol"/>
              <a:buChar char="✓"/>
              <a:tabLst>
                <a:tab pos="412750" algn="l"/>
              </a:tabLst>
            </a:pP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Migrar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a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ESP32-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S2/S3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para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USB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HID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nativo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sin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Python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54524" y="213047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59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091D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54524" y="213047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412750" indent="-186055">
              <a:lnSpc>
                <a:spcPct val="100000"/>
              </a:lnSpc>
              <a:buFont typeface="Segoe UI Symbol"/>
              <a:buChar char="✓"/>
              <a:tabLst>
                <a:tab pos="412750" algn="l"/>
              </a:tabLst>
            </a:pP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Broker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local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con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Mosquitto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para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uso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offline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54524" y="299915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59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091D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54524" y="299915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412750" indent="-186055">
              <a:lnSpc>
                <a:spcPct val="100000"/>
              </a:lnSpc>
              <a:buFont typeface="Segoe UI Symbol"/>
              <a:buChar char="✓"/>
              <a:tabLst>
                <a:tab pos="412750" algn="l"/>
              </a:tabLst>
            </a:pP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Dashboard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en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Node-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RED</a:t>
            </a:r>
            <a:r>
              <a:rPr sz="1150" spc="-1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para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monitoreo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y</a:t>
            </a:r>
            <a:r>
              <a:rPr sz="1150" spc="-1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config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754524" y="3867837"/>
            <a:ext cx="4023360" cy="749935"/>
          </a:xfrm>
          <a:custGeom>
            <a:avLst/>
            <a:gdLst/>
            <a:ahLst/>
            <a:cxnLst/>
            <a:rect l="l" t="t" r="r" b="b"/>
            <a:pathLst>
              <a:path w="4023359" h="749935">
                <a:moveTo>
                  <a:pt x="4022991" y="0"/>
                </a:moveTo>
                <a:lnTo>
                  <a:pt x="0" y="0"/>
                </a:lnTo>
                <a:lnTo>
                  <a:pt x="0" y="749528"/>
                </a:lnTo>
                <a:lnTo>
                  <a:pt x="2011680" y="749528"/>
                </a:lnTo>
                <a:lnTo>
                  <a:pt x="4022991" y="749528"/>
                </a:lnTo>
                <a:lnTo>
                  <a:pt x="4022991" y="0"/>
                </a:lnTo>
                <a:close/>
              </a:path>
            </a:pathLst>
          </a:custGeom>
          <a:solidFill>
            <a:srgbClr val="091D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754524" y="3867837"/>
            <a:ext cx="4023360" cy="749935"/>
          </a:xfrm>
          <a:prstGeom prst="rect">
            <a:avLst/>
          </a:prstGeom>
          <a:ln w="12599">
            <a:solidFill>
              <a:srgbClr val="465468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40"/>
              </a:spcBef>
            </a:pPr>
            <a:endParaRPr sz="1150">
              <a:latin typeface="Times New Roman"/>
              <a:cs typeface="Times New Roman"/>
            </a:endParaRPr>
          </a:p>
          <a:p>
            <a:pPr marL="412750" indent="-186055">
              <a:lnSpc>
                <a:spcPct val="100000"/>
              </a:lnSpc>
              <a:buFont typeface="Segoe UI Symbol"/>
              <a:buChar char="✓"/>
              <a:tabLst>
                <a:tab pos="412750" algn="l"/>
              </a:tabLst>
            </a:pP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Modo</a:t>
            </a:r>
            <a:r>
              <a:rPr sz="1150" spc="-3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deep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sleep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para</a:t>
            </a:r>
            <a:r>
              <a:rPr sz="1150" spc="-2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ahorro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de</a:t>
            </a:r>
            <a:r>
              <a:rPr sz="1150" spc="-2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energía</a:t>
            </a:r>
            <a:r>
              <a:rPr sz="1150" spc="-30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0F4D3"/>
                </a:solidFill>
                <a:latin typeface="Calibri"/>
                <a:cs typeface="Calibri"/>
              </a:rPr>
              <a:t>en</a:t>
            </a:r>
            <a:r>
              <a:rPr sz="1150" spc="-15" dirty="0">
                <a:solidFill>
                  <a:srgbClr val="00F4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0F4D3"/>
                </a:solidFill>
                <a:latin typeface="Calibri"/>
                <a:cs typeface="Calibri"/>
              </a:rPr>
              <a:t>batería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655" y="-6653"/>
            <a:ext cx="9156700" cy="1201420"/>
            <a:chOff x="-6655" y="-6653"/>
            <a:chExt cx="9156700" cy="1201420"/>
          </a:xfrm>
        </p:grpSpPr>
        <p:sp>
          <p:nvSpPr>
            <p:cNvPr id="3" name="object 3"/>
            <p:cNvSpPr/>
            <p:nvPr/>
          </p:nvSpPr>
          <p:spPr>
            <a:xfrm>
              <a:off x="-355" y="-353"/>
              <a:ext cx="9144000" cy="1188720"/>
            </a:xfrm>
            <a:custGeom>
              <a:avLst/>
              <a:gdLst/>
              <a:ahLst/>
              <a:cxnLst/>
              <a:rect l="l" t="t" r="r" b="b"/>
              <a:pathLst>
                <a:path w="9144000" h="1188720">
                  <a:moveTo>
                    <a:pt x="9143631" y="0"/>
                  </a:moveTo>
                  <a:lnTo>
                    <a:pt x="0" y="0"/>
                  </a:lnTo>
                  <a:lnTo>
                    <a:pt x="0" y="1188351"/>
                  </a:lnTo>
                  <a:lnTo>
                    <a:pt x="4572000" y="1188351"/>
                  </a:lnTo>
                  <a:lnTo>
                    <a:pt x="9143631" y="118835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70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-353"/>
              <a:ext cx="9144000" cy="1188720"/>
            </a:xfrm>
            <a:custGeom>
              <a:avLst/>
              <a:gdLst/>
              <a:ahLst/>
              <a:cxnLst/>
              <a:rect l="l" t="t" r="r" b="b"/>
              <a:pathLst>
                <a:path w="9144000" h="1188720">
                  <a:moveTo>
                    <a:pt x="4572000" y="1188351"/>
                  </a:moveTo>
                  <a:lnTo>
                    <a:pt x="0" y="1188351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1188351"/>
                  </a:lnTo>
                  <a:lnTo>
                    <a:pt x="4572000" y="1188351"/>
                  </a:lnTo>
                  <a:close/>
                </a:path>
              </a:pathLst>
            </a:custGeom>
            <a:ln w="12599">
              <a:solidFill>
                <a:srgbClr val="070D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655" y="4199586"/>
            <a:ext cx="9156700" cy="949960"/>
            <a:chOff x="-6655" y="4199586"/>
            <a:chExt cx="9156700" cy="949960"/>
          </a:xfrm>
        </p:grpSpPr>
        <p:sp>
          <p:nvSpPr>
            <p:cNvPr id="6" name="object 6"/>
            <p:cNvSpPr/>
            <p:nvPr/>
          </p:nvSpPr>
          <p:spPr>
            <a:xfrm>
              <a:off x="-355" y="4205886"/>
              <a:ext cx="9144000" cy="937260"/>
            </a:xfrm>
            <a:custGeom>
              <a:avLst/>
              <a:gdLst/>
              <a:ahLst/>
              <a:cxnLst/>
              <a:rect l="l" t="t" r="r" b="b"/>
              <a:pathLst>
                <a:path w="9144000" h="937260">
                  <a:moveTo>
                    <a:pt x="9143631" y="0"/>
                  </a:moveTo>
                  <a:lnTo>
                    <a:pt x="0" y="0"/>
                  </a:lnTo>
                  <a:lnTo>
                    <a:pt x="0" y="937069"/>
                  </a:lnTo>
                  <a:lnTo>
                    <a:pt x="4572000" y="937069"/>
                  </a:lnTo>
                  <a:lnTo>
                    <a:pt x="9143631" y="937069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70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355" y="4205886"/>
              <a:ext cx="9144000" cy="937260"/>
            </a:xfrm>
            <a:custGeom>
              <a:avLst/>
              <a:gdLst/>
              <a:ahLst/>
              <a:cxnLst/>
              <a:rect l="l" t="t" r="r" b="b"/>
              <a:pathLst>
                <a:path w="9144000" h="937260">
                  <a:moveTo>
                    <a:pt x="4572000" y="937069"/>
                  </a:moveTo>
                  <a:lnTo>
                    <a:pt x="0" y="937069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937069"/>
                  </a:lnTo>
                  <a:lnTo>
                    <a:pt x="4572000" y="937069"/>
                  </a:lnTo>
                  <a:close/>
                </a:path>
              </a:pathLst>
            </a:custGeom>
            <a:ln w="12599">
              <a:solidFill>
                <a:srgbClr val="070D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4269958"/>
              <a:ext cx="273964" cy="273964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248545" y="322112"/>
            <a:ext cx="264033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150" dirty="0"/>
              <a:t>Conclusiones</a:t>
            </a:r>
            <a:endParaRPr sz="3400"/>
          </a:p>
        </p:txBody>
      </p:sp>
      <p:grpSp>
        <p:nvGrpSpPr>
          <p:cNvPr id="10" name="object 10"/>
          <p:cNvGrpSpPr/>
          <p:nvPr/>
        </p:nvGrpSpPr>
        <p:grpSpPr>
          <a:xfrm>
            <a:off x="450544" y="1255497"/>
            <a:ext cx="8242300" cy="762635"/>
            <a:chOff x="450544" y="1255497"/>
            <a:chExt cx="8242300" cy="762635"/>
          </a:xfrm>
        </p:grpSpPr>
        <p:sp>
          <p:nvSpPr>
            <p:cNvPr id="11" name="object 11"/>
            <p:cNvSpPr/>
            <p:nvPr/>
          </p:nvSpPr>
          <p:spPr>
            <a:xfrm>
              <a:off x="456844" y="1261797"/>
              <a:ext cx="8229600" cy="749935"/>
            </a:xfrm>
            <a:custGeom>
              <a:avLst/>
              <a:gdLst/>
              <a:ahLst/>
              <a:cxnLst/>
              <a:rect l="l" t="t" r="r" b="b"/>
              <a:pathLst>
                <a:path w="8229600" h="749935">
                  <a:moveTo>
                    <a:pt x="8229231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4114800" y="749528"/>
                  </a:lnTo>
                  <a:lnTo>
                    <a:pt x="8229231" y="749528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091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844" y="1261797"/>
              <a:ext cx="8229600" cy="749935"/>
            </a:xfrm>
            <a:custGeom>
              <a:avLst/>
              <a:gdLst/>
              <a:ahLst/>
              <a:cxnLst/>
              <a:rect l="l" t="t" r="r" b="b"/>
              <a:pathLst>
                <a:path w="8229600" h="749935">
                  <a:moveTo>
                    <a:pt x="4114800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749528"/>
                  </a:lnTo>
                  <a:lnTo>
                    <a:pt x="4114800" y="749528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199" y="1261797"/>
              <a:ext cx="109855" cy="749935"/>
            </a:xfrm>
            <a:custGeom>
              <a:avLst/>
              <a:gdLst/>
              <a:ahLst/>
              <a:cxnLst/>
              <a:rect l="l" t="t" r="r" b="b"/>
              <a:pathLst>
                <a:path w="109854" h="749935">
                  <a:moveTo>
                    <a:pt x="109435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54724" y="749528"/>
                  </a:lnTo>
                  <a:lnTo>
                    <a:pt x="109435" y="749528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0F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199" y="1261797"/>
              <a:ext cx="109855" cy="749935"/>
            </a:xfrm>
            <a:custGeom>
              <a:avLst/>
              <a:gdLst/>
              <a:ahLst/>
              <a:cxnLst/>
              <a:rect l="l" t="t" r="r" b="b"/>
              <a:pathLst>
                <a:path w="109854" h="749935">
                  <a:moveTo>
                    <a:pt x="54724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749528"/>
                  </a:lnTo>
                  <a:lnTo>
                    <a:pt x="54724" y="749528"/>
                  </a:lnTo>
                  <a:close/>
                </a:path>
              </a:pathLst>
            </a:custGeom>
            <a:ln w="12599">
              <a:solidFill>
                <a:srgbClr val="00F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462686"/>
              <a:ext cx="328675" cy="3286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72935" y="1524865"/>
            <a:ext cx="81070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Control</a:t>
            </a:r>
            <a:r>
              <a:rPr sz="1300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inalámbrico</a:t>
            </a:r>
            <a:r>
              <a:rPr sz="1300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en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tiempo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real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logrado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con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latencia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menor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a</a:t>
            </a:r>
            <a:r>
              <a:rPr sz="1300" spc="-4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150ms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544" y="2169897"/>
            <a:ext cx="8242300" cy="762635"/>
            <a:chOff x="450544" y="2169897"/>
            <a:chExt cx="8242300" cy="762635"/>
          </a:xfrm>
        </p:grpSpPr>
        <p:sp>
          <p:nvSpPr>
            <p:cNvPr id="18" name="object 18"/>
            <p:cNvSpPr/>
            <p:nvPr/>
          </p:nvSpPr>
          <p:spPr>
            <a:xfrm>
              <a:off x="456844" y="2176197"/>
              <a:ext cx="8229600" cy="749935"/>
            </a:xfrm>
            <a:custGeom>
              <a:avLst/>
              <a:gdLst/>
              <a:ahLst/>
              <a:cxnLst/>
              <a:rect l="l" t="t" r="r" b="b"/>
              <a:pathLst>
                <a:path w="8229600" h="749935">
                  <a:moveTo>
                    <a:pt x="8229231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4114800" y="749528"/>
                  </a:lnTo>
                  <a:lnTo>
                    <a:pt x="8229231" y="749528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0C1E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844" y="2176197"/>
              <a:ext cx="8229600" cy="749935"/>
            </a:xfrm>
            <a:custGeom>
              <a:avLst/>
              <a:gdLst/>
              <a:ahLst/>
              <a:cxnLst/>
              <a:rect l="l" t="t" r="r" b="b"/>
              <a:pathLst>
                <a:path w="8229600" h="749935">
                  <a:moveTo>
                    <a:pt x="4114800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749528"/>
                  </a:lnTo>
                  <a:lnTo>
                    <a:pt x="4114800" y="749528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" y="2176197"/>
              <a:ext cx="109855" cy="749935"/>
            </a:xfrm>
            <a:custGeom>
              <a:avLst/>
              <a:gdLst/>
              <a:ahLst/>
              <a:cxnLst/>
              <a:rect l="l" t="t" r="r" b="b"/>
              <a:pathLst>
                <a:path w="109854" h="749935">
                  <a:moveTo>
                    <a:pt x="109435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54724" y="749528"/>
                  </a:lnTo>
                  <a:lnTo>
                    <a:pt x="109435" y="749528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0F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" y="2176197"/>
              <a:ext cx="109855" cy="749935"/>
            </a:xfrm>
            <a:custGeom>
              <a:avLst/>
              <a:gdLst/>
              <a:ahLst/>
              <a:cxnLst/>
              <a:rect l="l" t="t" r="r" b="b"/>
              <a:pathLst>
                <a:path w="109854" h="749935">
                  <a:moveTo>
                    <a:pt x="54724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749528"/>
                  </a:lnTo>
                  <a:lnTo>
                    <a:pt x="54724" y="749528"/>
                  </a:lnTo>
                  <a:close/>
                </a:path>
              </a:pathLst>
            </a:custGeom>
            <a:ln w="12599">
              <a:solidFill>
                <a:srgbClr val="00F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2377086"/>
              <a:ext cx="328675" cy="32867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72935" y="2439265"/>
            <a:ext cx="81070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100"/>
              </a:spcBef>
            </a:pP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Todos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los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requisitos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del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curso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fueron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implementados</a:t>
            </a:r>
            <a:r>
              <a:rPr sz="1300" spc="-3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y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validados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0544" y="3084297"/>
            <a:ext cx="8242300" cy="762635"/>
            <a:chOff x="450544" y="3084297"/>
            <a:chExt cx="8242300" cy="762635"/>
          </a:xfrm>
        </p:grpSpPr>
        <p:sp>
          <p:nvSpPr>
            <p:cNvPr id="25" name="object 25"/>
            <p:cNvSpPr/>
            <p:nvPr/>
          </p:nvSpPr>
          <p:spPr>
            <a:xfrm>
              <a:off x="456844" y="3090597"/>
              <a:ext cx="8229600" cy="749935"/>
            </a:xfrm>
            <a:custGeom>
              <a:avLst/>
              <a:gdLst/>
              <a:ahLst/>
              <a:cxnLst/>
              <a:rect l="l" t="t" r="r" b="b"/>
              <a:pathLst>
                <a:path w="8229600" h="749935">
                  <a:moveTo>
                    <a:pt x="8229231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4114800" y="749528"/>
                  </a:lnTo>
                  <a:lnTo>
                    <a:pt x="8229231" y="749528"/>
                  </a:lnTo>
                  <a:lnTo>
                    <a:pt x="8229231" y="0"/>
                  </a:lnTo>
                  <a:close/>
                </a:path>
              </a:pathLst>
            </a:custGeom>
            <a:solidFill>
              <a:srgbClr val="09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6844" y="3090597"/>
              <a:ext cx="8229600" cy="749935"/>
            </a:xfrm>
            <a:custGeom>
              <a:avLst/>
              <a:gdLst/>
              <a:ahLst/>
              <a:cxnLst/>
              <a:rect l="l" t="t" r="r" b="b"/>
              <a:pathLst>
                <a:path w="8229600" h="749935">
                  <a:moveTo>
                    <a:pt x="4114800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8229231" y="0"/>
                  </a:lnTo>
                  <a:lnTo>
                    <a:pt x="8229231" y="749528"/>
                  </a:lnTo>
                  <a:lnTo>
                    <a:pt x="4114800" y="749528"/>
                  </a:lnTo>
                  <a:close/>
                </a:path>
              </a:pathLst>
            </a:custGeom>
            <a:ln w="12599">
              <a:solidFill>
                <a:srgbClr val="4654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7199" y="3090597"/>
              <a:ext cx="109855" cy="749935"/>
            </a:xfrm>
            <a:custGeom>
              <a:avLst/>
              <a:gdLst/>
              <a:ahLst/>
              <a:cxnLst/>
              <a:rect l="l" t="t" r="r" b="b"/>
              <a:pathLst>
                <a:path w="109854" h="749935">
                  <a:moveTo>
                    <a:pt x="109435" y="0"/>
                  </a:moveTo>
                  <a:lnTo>
                    <a:pt x="0" y="0"/>
                  </a:lnTo>
                  <a:lnTo>
                    <a:pt x="0" y="749528"/>
                  </a:lnTo>
                  <a:lnTo>
                    <a:pt x="54724" y="749528"/>
                  </a:lnTo>
                  <a:lnTo>
                    <a:pt x="109435" y="749528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0F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99" y="3090597"/>
              <a:ext cx="109855" cy="749935"/>
            </a:xfrm>
            <a:custGeom>
              <a:avLst/>
              <a:gdLst/>
              <a:ahLst/>
              <a:cxnLst/>
              <a:rect l="l" t="t" r="r" b="b"/>
              <a:pathLst>
                <a:path w="109854" h="749935">
                  <a:moveTo>
                    <a:pt x="54724" y="749528"/>
                  </a:moveTo>
                  <a:lnTo>
                    <a:pt x="0" y="749528"/>
                  </a:lnTo>
                  <a:lnTo>
                    <a:pt x="0" y="0"/>
                  </a:lnTo>
                  <a:lnTo>
                    <a:pt x="109435" y="0"/>
                  </a:lnTo>
                  <a:lnTo>
                    <a:pt x="109435" y="749528"/>
                  </a:lnTo>
                  <a:lnTo>
                    <a:pt x="54724" y="749528"/>
                  </a:lnTo>
                  <a:close/>
                </a:path>
              </a:pathLst>
            </a:custGeom>
            <a:ln w="12599">
              <a:solidFill>
                <a:srgbClr val="00F4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3291486"/>
              <a:ext cx="328675" cy="32867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72935" y="3353665"/>
            <a:ext cx="81070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El</a:t>
            </a:r>
            <a:r>
              <a:rPr sz="1300" spc="-3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sistema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es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funcional,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extensible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y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documentado</a:t>
            </a:r>
            <a:r>
              <a:rPr sz="1300" spc="-20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EFF8FF"/>
                </a:solidFill>
                <a:latin typeface="Calibri"/>
                <a:cs typeface="Calibri"/>
              </a:rPr>
              <a:t>en</a:t>
            </a:r>
            <a:r>
              <a:rPr sz="1300" spc="-25" dirty="0">
                <a:solidFill>
                  <a:srgbClr val="EFF8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EFF8FF"/>
                </a:solidFill>
                <a:latin typeface="Calibri"/>
                <a:cs typeface="Calibri"/>
              </a:rPr>
              <a:t>GitHub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14296" y="4315233"/>
            <a:ext cx="458650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1100" dirty="0">
                <a:solidFill>
                  <a:schemeClr val="tx2"/>
                </a:solidFill>
                <a:latin typeface="Calibri"/>
                <a:cs typeface="Calibri"/>
              </a:rPr>
              <a:t>https://github.com/Blackjack555y/Proyecto-IOT---Documentacion-Final</a:t>
            </a:r>
            <a:endParaRPr sz="1100" dirty="0">
              <a:solidFill>
                <a:schemeClr val="tx2"/>
              </a:solidFill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26695" y="4254032"/>
            <a:ext cx="20796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50" dirty="0">
                <a:solidFill>
                  <a:srgbClr val="00F4D3"/>
                </a:solidFill>
                <a:latin typeface="Calibri"/>
                <a:cs typeface="Calibri"/>
              </a:rPr>
              <a:t>¿Preguntas?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569</Words>
  <Application>Microsoft Office PowerPoint</Application>
  <PresentationFormat>Personalizado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Calibri</vt:lpstr>
      <vt:lpstr>Courier New</vt:lpstr>
      <vt:lpstr>Segoe UI Symbol</vt:lpstr>
      <vt:lpstr>Times New Roman</vt:lpstr>
      <vt:lpstr>Office Theme</vt:lpstr>
      <vt:lpstr>SmartJoy Joysti ck Inalámbrico Io T</vt:lpstr>
      <vt:lpstr>¿Qué problema resuelve?</vt:lpstr>
      <vt:lpstr>Arquitectura del sistema</vt:lpstr>
      <vt:lpstr>Hardware utilizado</vt:lpstr>
      <vt:lpstr>Comunicación MQTT</vt:lpstr>
      <vt:lpstr>Requisitos del curso cumplidos</vt:lpstr>
      <vt:lpstr>DEMO EN VIVO</vt:lpstr>
      <vt:lpstr>Obstáculos encontrados</vt:lpstr>
      <vt:lpstr>Limitaciones y mejoras futuras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SmartJoy — Joystick Inalámbrico IoT</dc:title>
  <dc:subject>PptxGenJS Presentation</dc:subject>
  <dc:creator>Daniel Gomez &amp; Juan Silva</dc:creator>
  <cp:lastModifiedBy>Daniel David Gomez Britto</cp:lastModifiedBy>
  <cp:revision>1</cp:revision>
  <dcterms:created xsi:type="dcterms:W3CDTF">2026-05-28T13:44:43Z</dcterms:created>
  <dcterms:modified xsi:type="dcterms:W3CDTF">2026-05-28T13:46:46Z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2026-05-28T00:00:00Z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2026-05-28T00:00:00Z</vt:filetime>
  </property>
</Properties>
</file>